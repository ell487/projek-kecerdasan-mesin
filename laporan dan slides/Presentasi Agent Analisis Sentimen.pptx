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12192000"/>
  <p:notesSz cx="6858000" cy="9144000"/>
  <p:embeddedFontLst>
    <p:embeddedFont>
      <p:font typeface="Merriweather"/>
      <p:regular r:id="rId18"/>
      <p:bold r:id="rId19"/>
      <p:italic r:id="rId20"/>
      <p:boldItalic r:id="rId21"/>
    </p:embeddedFont>
    <p:embeddedFont>
      <p:font typeface="DM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63CCED-DF30-4569-8CE0-13F231605FEE}">
  <a:tblStyle styleId="{9B63CCED-DF30-4569-8CE0-13F231605FE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erriweather-italic.fntdata"/><Relationship Id="rId22" Type="http://schemas.openxmlformats.org/officeDocument/2006/relationships/font" Target="fonts/DMSans-regular.fntdata"/><Relationship Id="rId21" Type="http://schemas.openxmlformats.org/officeDocument/2006/relationships/font" Target="fonts/Merriweather-boldItalic.fntdata"/><Relationship Id="rId24" Type="http://schemas.openxmlformats.org/officeDocument/2006/relationships/font" Target="fonts/DMSans-italic.fntdata"/><Relationship Id="rId23" Type="http://schemas.openxmlformats.org/officeDocument/2006/relationships/font" Target="fonts/DM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font" Target="fonts/DM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Merriweather-bold.fntdata"/><Relationship Id="rId18" Type="http://schemas.openxmlformats.org/officeDocument/2006/relationships/font" Target="fonts/Merriweather-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2.png"/><Relationship Id="rId4" Type="http://schemas.openxmlformats.org/officeDocument/2006/relationships/image" Target="../media/image17.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18.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2.png"/><Relationship Id="rId4" Type="http://schemas.openxmlformats.org/officeDocument/2006/relationships/image" Target="../media/image15.png"/><Relationship Id="rId9"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19.png"/><Relationship Id="rId9" Type="http://schemas.openxmlformats.org/officeDocument/2006/relationships/image" Target="../media/image26.png"/><Relationship Id="rId5" Type="http://schemas.openxmlformats.org/officeDocument/2006/relationships/image" Target="../media/image12.png"/><Relationship Id="rId6" Type="http://schemas.openxmlformats.org/officeDocument/2006/relationships/image" Target="../media/image27.png"/><Relationship Id="rId7" Type="http://schemas.openxmlformats.org/officeDocument/2006/relationships/image" Target="../media/image21.png"/><Relationship Id="rId8"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24.png"/><Relationship Id="rId6" Type="http://schemas.openxmlformats.org/officeDocument/2006/relationships/image" Target="../media/image13.png"/><Relationship Id="rId7" Type="http://schemas.openxmlformats.org/officeDocument/2006/relationships/image" Target="../media/image16.png"/><Relationship Id="rId8"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17.png"/><Relationship Id="rId5" Type="http://schemas.openxmlformats.org/officeDocument/2006/relationships/image" Target="../media/image23.png"/><Relationship Id="rId6" Type="http://schemas.openxmlformats.org/officeDocument/2006/relationships/image" Target="../media/image20.png"/><Relationship Id="rId7" Type="http://schemas.openxmlformats.org/officeDocument/2006/relationships/image" Target="../media/image39.png"/><Relationship Id="rId8"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30.png"/><Relationship Id="rId10" Type="http://schemas.openxmlformats.org/officeDocument/2006/relationships/image" Target="../media/image41.png"/><Relationship Id="rId9" Type="http://schemas.openxmlformats.org/officeDocument/2006/relationships/image" Target="../media/image29.png"/><Relationship Id="rId5" Type="http://schemas.openxmlformats.org/officeDocument/2006/relationships/image" Target="../media/image37.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4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35.png"/><Relationship Id="rId5" Type="http://schemas.openxmlformats.org/officeDocument/2006/relationships/image" Target="../media/image45.png"/><Relationship Id="rId6" Type="http://schemas.openxmlformats.org/officeDocument/2006/relationships/image" Target="../media/image34.png"/><Relationship Id="rId7" Type="http://schemas.openxmlformats.org/officeDocument/2006/relationships/image" Target="../media/image44.png"/><Relationship Id="rId8"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36.png"/><Relationship Id="rId5" Type="http://schemas.openxmlformats.org/officeDocument/2006/relationships/image" Target="../media/image38.png"/><Relationship Id="rId6" Type="http://schemas.openxmlformats.org/officeDocument/2006/relationships/image" Target="../media/image46.png"/><Relationship Id="rId7"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86" name="Google Shape;86;p13"/>
          <p:cNvSpPr txBox="1"/>
          <p:nvPr/>
        </p:nvSpPr>
        <p:spPr>
          <a:xfrm>
            <a:off x="695325" y="952500"/>
            <a:ext cx="10801350" cy="1257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4500" u="none" cap="none" strike="noStrike">
                <a:solidFill>
                  <a:srgbClr val="F3F0DF"/>
                </a:solidFill>
                <a:latin typeface="Merriweather"/>
                <a:ea typeface="Merriweather"/>
                <a:cs typeface="Merriweather"/>
                <a:sym typeface="Merriweather"/>
              </a:rPr>
              <a:t>Sistem Otomatisasi Agent</a:t>
            </a:r>
            <a:br>
              <a:rPr b="0" i="0" lang="en-US" sz="1800" u="none" cap="none" strike="noStrike">
                <a:solidFill>
                  <a:schemeClr val="dk1"/>
                </a:solidFill>
                <a:latin typeface="Calibri"/>
                <a:ea typeface="Calibri"/>
                <a:cs typeface="Calibri"/>
                <a:sym typeface="Calibri"/>
              </a:rPr>
            </a:br>
            <a:r>
              <a:rPr b="1" i="0" lang="en-US" sz="4500" u="none" cap="none" strike="noStrike">
                <a:solidFill>
                  <a:srgbClr val="F3F0DF"/>
                </a:solidFill>
                <a:latin typeface="Merriweather"/>
                <a:ea typeface="Merriweather"/>
                <a:cs typeface="Merriweather"/>
                <a:sym typeface="Merriweather"/>
              </a:rPr>
              <a:t> Analisis Sentimen AI</a:t>
            </a:r>
            <a:endParaRPr/>
          </a:p>
        </p:txBody>
      </p:sp>
      <p:sp>
        <p:nvSpPr>
          <p:cNvPr id="87" name="Google Shape;87;p13"/>
          <p:cNvSpPr txBox="1"/>
          <p:nvPr/>
        </p:nvSpPr>
        <p:spPr>
          <a:xfrm>
            <a:off x="952500" y="2400300"/>
            <a:ext cx="10287000" cy="342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CDD6E2"/>
                </a:solidFill>
                <a:latin typeface="DM Sans"/>
                <a:ea typeface="DM Sans"/>
                <a:cs typeface="DM Sans"/>
                <a:sym typeface="DM Sans"/>
              </a:rPr>
              <a:t>Presentasi Proyek Minggu ke-13: Implementasi End-to-End</a:t>
            </a:r>
            <a:endParaRPr/>
          </a:p>
        </p:txBody>
      </p:sp>
      <p:sp>
        <p:nvSpPr>
          <p:cNvPr id="88" name="Google Shape;88;p13"/>
          <p:cNvSpPr txBox="1"/>
          <p:nvPr/>
        </p:nvSpPr>
        <p:spPr>
          <a:xfrm>
            <a:off x="952500" y="3219450"/>
            <a:ext cx="10287000" cy="685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50" u="none" cap="none" strike="noStrike">
                <a:solidFill>
                  <a:srgbClr val="F3F0DF"/>
                </a:solidFill>
                <a:latin typeface="DM Sans"/>
                <a:ea typeface="DM Sans"/>
                <a:cs typeface="DM Sans"/>
                <a:sym typeface="DM Sans"/>
              </a:rPr>
              <a:t>Program Studi Teknik Informatika</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F3F0DF"/>
                </a:solidFill>
                <a:latin typeface="DM Sans"/>
                <a:ea typeface="DM Sans"/>
                <a:cs typeface="DM Sans"/>
                <a:sym typeface="DM Sans"/>
              </a:rPr>
              <a:t> Fakultas Teknologi dan Rekayasa Cerdas</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F3F0DF"/>
                </a:solidFill>
                <a:latin typeface="DM Sans"/>
                <a:ea typeface="DM Sans"/>
                <a:cs typeface="DM Sans"/>
                <a:sym typeface="DM Sans"/>
              </a:rPr>
              <a:t> Universitas Kristen Maranatha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92" name="Shape 92"/>
        <p:cNvGrpSpPr/>
        <p:nvPr/>
      </p:nvGrpSpPr>
      <p:grpSpPr>
        <a:xfrm>
          <a:off x="0" y="0"/>
          <a:ext cx="0" cy="0"/>
          <a:chOff x="0" y="0"/>
          <a:chExt cx="0" cy="0"/>
        </a:xfrm>
      </p:grpSpPr>
      <p:pic>
        <p:nvPicPr>
          <p:cNvPr descr="image.png" id="93" name="Google Shape;93;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4" name="Google Shape;94;p14"/>
          <p:cNvPicPr preferRelativeResize="0"/>
          <p:nvPr/>
        </p:nvPicPr>
        <p:blipFill rotWithShape="1">
          <a:blip r:embed="rId4">
            <a:alphaModFix/>
          </a:blip>
          <a:srcRect b="0" l="0" r="0" t="0"/>
          <a:stretch/>
        </p:blipFill>
        <p:spPr>
          <a:xfrm>
            <a:off x="6286500" y="1428750"/>
            <a:ext cx="5334000" cy="3810000"/>
          </a:xfrm>
          <a:prstGeom prst="rect">
            <a:avLst/>
          </a:prstGeom>
          <a:noFill/>
          <a:ln>
            <a:noFill/>
          </a:ln>
        </p:spPr>
      </p:pic>
      <p:sp>
        <p:nvSpPr>
          <p:cNvPr id="95" name="Google Shape;95;p14"/>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5088"/>
                </a:solidFill>
                <a:latin typeface="Merriweather"/>
                <a:ea typeface="Merriweather"/>
                <a:cs typeface="Merriweather"/>
                <a:sym typeface="Merriweather"/>
              </a:rPr>
              <a:t>Latar Belakang Studi Kasus</a:t>
            </a:r>
            <a:endParaRPr/>
          </a:p>
        </p:txBody>
      </p:sp>
      <p:sp>
        <p:nvSpPr>
          <p:cNvPr id="96" name="Google Shape;96;p14"/>
          <p:cNvSpPr/>
          <p:nvPr/>
        </p:nvSpPr>
        <p:spPr>
          <a:xfrm>
            <a:off x="571500" y="1114425"/>
            <a:ext cx="110490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14"/>
          <p:cNvSpPr txBox="1"/>
          <p:nvPr/>
        </p:nvSpPr>
        <p:spPr>
          <a:xfrm>
            <a:off x="571500" y="1428750"/>
            <a:ext cx="56007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Lonjakan E-Commerce</a:t>
            </a:r>
            <a:endParaRPr/>
          </a:p>
        </p:txBody>
      </p:sp>
      <p:sp>
        <p:nvSpPr>
          <p:cNvPr id="98" name="Google Shape;98;p14"/>
          <p:cNvSpPr txBox="1"/>
          <p:nvPr/>
        </p:nvSpPr>
        <p:spPr>
          <a:xfrm>
            <a:off x="571500" y="1962150"/>
            <a:ext cx="5334000"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1E293B"/>
                </a:solidFill>
                <a:latin typeface="DM Sans"/>
                <a:ea typeface="DM Sans"/>
                <a:cs typeface="DM Sans"/>
                <a:sym typeface="DM Sans"/>
              </a:rPr>
              <a:t>Pertumbuhan e-commerce di Indonesia menyebabkan masuknya ulasan pelanggan dalam jumlah masif setiap harinya. Menganalisis ulasan ini secara manual sangat tidak efisien dan rentan terhadap kesalahan.</a:t>
            </a:r>
            <a:endParaRPr/>
          </a:p>
        </p:txBody>
      </p:sp>
      <p:pic>
        <p:nvPicPr>
          <p:cNvPr descr="image.png" id="99" name="Google Shape;99;p14"/>
          <p:cNvPicPr preferRelativeResize="0"/>
          <p:nvPr/>
        </p:nvPicPr>
        <p:blipFill rotWithShape="1">
          <a:blip r:embed="rId5">
            <a:alphaModFix/>
          </a:blip>
          <a:srcRect b="0" l="0" r="0" t="0"/>
          <a:stretch/>
        </p:blipFill>
        <p:spPr>
          <a:xfrm>
            <a:off x="6305550" y="1447800"/>
            <a:ext cx="5295900" cy="3771900"/>
          </a:xfrm>
          <a:prstGeom prst="rect">
            <a:avLst/>
          </a:prstGeom>
          <a:noFill/>
          <a:ln>
            <a:noFill/>
          </a:ln>
        </p:spPr>
      </p:pic>
      <p:sp>
        <p:nvSpPr>
          <p:cNvPr id="100" name="Google Shape;100;p14"/>
          <p:cNvSpPr txBox="1"/>
          <p:nvPr/>
        </p:nvSpPr>
        <p:spPr>
          <a:xfrm>
            <a:off x="952500" y="3295650"/>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1E293B"/>
                </a:solidFill>
                <a:latin typeface="DM Sans"/>
                <a:ea typeface="DM Sans"/>
                <a:cs typeface="DM Sans"/>
                <a:sym typeface="DM Sans"/>
              </a:rPr>
              <a:t>Pertumbuhan volume data tidak terstruktur yang sangat cepat.</a:t>
            </a:r>
            <a:endParaRPr/>
          </a:p>
        </p:txBody>
      </p:sp>
      <p:sp>
        <p:nvSpPr>
          <p:cNvPr id="101" name="Google Shape;101;p14"/>
          <p:cNvSpPr txBox="1"/>
          <p:nvPr/>
        </p:nvSpPr>
        <p:spPr>
          <a:xfrm>
            <a:off x="952500" y="4057650"/>
            <a:ext cx="4953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1E293B"/>
                </a:solidFill>
                <a:latin typeface="DM Sans"/>
                <a:ea typeface="DM Sans"/>
                <a:cs typeface="DM Sans"/>
                <a:sym typeface="DM Sans"/>
              </a:rPr>
              <a:t>Biaya operasional tinggi untuk proses audit manual.</a:t>
            </a:r>
            <a:endParaRPr/>
          </a:p>
        </p:txBody>
      </p:sp>
      <p:sp>
        <p:nvSpPr>
          <p:cNvPr id="102" name="Google Shape;102;p14"/>
          <p:cNvSpPr txBox="1"/>
          <p:nvPr/>
        </p:nvSpPr>
        <p:spPr>
          <a:xfrm>
            <a:off x="952500" y="4533900"/>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1E293B"/>
                </a:solidFill>
                <a:latin typeface="DM Sans"/>
                <a:ea typeface="DM Sans"/>
                <a:cs typeface="DM Sans"/>
                <a:sym typeface="DM Sans"/>
              </a:rPr>
              <a:t>Kebutuhan kritis akan sistem otomasi wawasan (insight) sentimen.</a:t>
            </a:r>
            <a:endParaRPr/>
          </a:p>
        </p:txBody>
      </p:sp>
      <p:pic>
        <p:nvPicPr>
          <p:cNvPr descr="image.png" id="103" name="Google Shape;103;p14"/>
          <p:cNvPicPr preferRelativeResize="0"/>
          <p:nvPr/>
        </p:nvPicPr>
        <p:blipFill rotWithShape="1">
          <a:blip r:embed="rId6">
            <a:alphaModFix/>
          </a:blip>
          <a:srcRect b="0" l="0" r="0" t="0"/>
          <a:stretch/>
        </p:blipFill>
        <p:spPr>
          <a:xfrm>
            <a:off x="571500" y="3333750"/>
            <a:ext cx="228600" cy="247650"/>
          </a:xfrm>
          <a:prstGeom prst="rect">
            <a:avLst/>
          </a:prstGeom>
          <a:noFill/>
          <a:ln>
            <a:noFill/>
          </a:ln>
        </p:spPr>
      </p:pic>
      <p:pic>
        <p:nvPicPr>
          <p:cNvPr descr="image.png" id="104" name="Google Shape;104;p14"/>
          <p:cNvPicPr preferRelativeResize="0"/>
          <p:nvPr/>
        </p:nvPicPr>
        <p:blipFill rotWithShape="1">
          <a:blip r:embed="rId7">
            <a:alphaModFix/>
          </a:blip>
          <a:srcRect b="0" l="0" r="0" t="0"/>
          <a:stretch/>
        </p:blipFill>
        <p:spPr>
          <a:xfrm>
            <a:off x="571500" y="4095750"/>
            <a:ext cx="228600" cy="247650"/>
          </a:xfrm>
          <a:prstGeom prst="rect">
            <a:avLst/>
          </a:prstGeom>
          <a:noFill/>
          <a:ln>
            <a:noFill/>
          </a:ln>
        </p:spPr>
      </p:pic>
      <p:pic>
        <p:nvPicPr>
          <p:cNvPr descr="image.png" id="105" name="Google Shape;105;p14"/>
          <p:cNvPicPr preferRelativeResize="0"/>
          <p:nvPr/>
        </p:nvPicPr>
        <p:blipFill rotWithShape="1">
          <a:blip r:embed="rId8">
            <a:alphaModFix/>
          </a:blip>
          <a:srcRect b="0" l="0" r="0" t="0"/>
          <a:stretch/>
        </p:blipFill>
        <p:spPr>
          <a:xfrm>
            <a:off x="571500" y="4572000"/>
            <a:ext cx="228600" cy="247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09" name="Shape 109"/>
        <p:cNvGrpSpPr/>
        <p:nvPr/>
      </p:nvGrpSpPr>
      <p:grpSpPr>
        <a:xfrm>
          <a:off x="0" y="0"/>
          <a:ext cx="0" cy="0"/>
          <a:chOff x="0" y="0"/>
          <a:chExt cx="0" cy="0"/>
        </a:xfrm>
      </p:grpSpPr>
      <p:pic>
        <p:nvPicPr>
          <p:cNvPr descr="image.png" id="110" name="Google Shape;110;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1" name="Google Shape;111;p15"/>
          <p:cNvPicPr preferRelativeResize="0"/>
          <p:nvPr/>
        </p:nvPicPr>
        <p:blipFill rotWithShape="1">
          <a:blip r:embed="rId4">
            <a:alphaModFix/>
          </a:blip>
          <a:srcRect b="0" l="0" r="0" t="0"/>
          <a:stretch/>
        </p:blipFill>
        <p:spPr>
          <a:xfrm>
            <a:off x="571500" y="1428750"/>
            <a:ext cx="5334000" cy="3810000"/>
          </a:xfrm>
          <a:prstGeom prst="rect">
            <a:avLst/>
          </a:prstGeom>
          <a:noFill/>
          <a:ln>
            <a:noFill/>
          </a:ln>
        </p:spPr>
      </p:pic>
      <p:sp>
        <p:nvSpPr>
          <p:cNvPr id="112" name="Google Shape;112;p15"/>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5088"/>
                </a:solidFill>
                <a:latin typeface="Merriweather"/>
                <a:ea typeface="Merriweather"/>
                <a:cs typeface="Merriweather"/>
                <a:sym typeface="Merriweather"/>
              </a:rPr>
              <a:t>Rencana Dataset: PRDECT-ID</a:t>
            </a:r>
            <a:endParaRPr/>
          </a:p>
        </p:txBody>
      </p:sp>
      <p:sp>
        <p:nvSpPr>
          <p:cNvPr id="113" name="Google Shape;113;p15"/>
          <p:cNvSpPr/>
          <p:nvPr/>
        </p:nvSpPr>
        <p:spPr>
          <a:xfrm>
            <a:off x="571500" y="1114425"/>
            <a:ext cx="110490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14" name="Google Shape;114;p15"/>
          <p:cNvPicPr preferRelativeResize="0"/>
          <p:nvPr/>
        </p:nvPicPr>
        <p:blipFill rotWithShape="1">
          <a:blip r:embed="rId5">
            <a:alphaModFix/>
          </a:blip>
          <a:srcRect b="0" l="0" r="0" t="0"/>
          <a:stretch/>
        </p:blipFill>
        <p:spPr>
          <a:xfrm>
            <a:off x="590550" y="1447800"/>
            <a:ext cx="5295900" cy="3771900"/>
          </a:xfrm>
          <a:prstGeom prst="rect">
            <a:avLst/>
          </a:prstGeom>
          <a:noFill/>
          <a:ln>
            <a:noFill/>
          </a:ln>
        </p:spPr>
      </p:pic>
      <p:sp>
        <p:nvSpPr>
          <p:cNvPr id="115" name="Google Shape;115;p15"/>
          <p:cNvSpPr txBox="1"/>
          <p:nvPr/>
        </p:nvSpPr>
        <p:spPr>
          <a:xfrm>
            <a:off x="6286500" y="1428750"/>
            <a:ext cx="56007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Sumber: Ulasan Produk Indonesia</a:t>
            </a:r>
            <a:endParaRPr/>
          </a:p>
        </p:txBody>
      </p:sp>
      <p:sp>
        <p:nvSpPr>
          <p:cNvPr id="116" name="Google Shape;116;p15"/>
          <p:cNvSpPr txBox="1"/>
          <p:nvPr/>
        </p:nvSpPr>
        <p:spPr>
          <a:xfrm>
            <a:off x="6286500" y="1962150"/>
            <a:ext cx="5334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1E293B"/>
                </a:solidFill>
                <a:latin typeface="DM Sans"/>
                <a:ea typeface="DM Sans"/>
                <a:cs typeface="DM Sans"/>
                <a:sym typeface="DM Sans"/>
              </a:rPr>
              <a:t>Dikumpulkan dari daftar produk Tokopedia, berisi 5.400 sampel data yang telah dianotasi (diberi label).</a:t>
            </a:r>
            <a:endParaRPr/>
          </a:p>
        </p:txBody>
      </p:sp>
      <p:sp>
        <p:nvSpPr>
          <p:cNvPr id="117" name="Google Shape;117;p15"/>
          <p:cNvSpPr txBox="1"/>
          <p:nvPr/>
        </p:nvSpPr>
        <p:spPr>
          <a:xfrm>
            <a:off x="6667500" y="2724150"/>
            <a:ext cx="4953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1E293B"/>
                </a:solidFill>
                <a:latin typeface="DM Sans"/>
                <a:ea typeface="DM Sans"/>
                <a:cs typeface="DM Sans"/>
                <a:sym typeface="DM Sans"/>
              </a:rPr>
              <a:t>Kategori:</a:t>
            </a:r>
            <a:r>
              <a:rPr b="0" i="0" lang="en-US" sz="1500" u="none" cap="none" strike="noStrike">
                <a:solidFill>
                  <a:srgbClr val="1E293B"/>
                </a:solidFill>
                <a:latin typeface="DM Sans"/>
                <a:ea typeface="DM Sans"/>
                <a:cs typeface="DM Sans"/>
                <a:sym typeface="DM Sans"/>
              </a:rPr>
              <a:t> 29 Kategori Produk.</a:t>
            </a:r>
            <a:endParaRPr/>
          </a:p>
        </p:txBody>
      </p:sp>
      <p:sp>
        <p:nvSpPr>
          <p:cNvPr id="118" name="Google Shape;118;p15"/>
          <p:cNvSpPr txBox="1"/>
          <p:nvPr/>
        </p:nvSpPr>
        <p:spPr>
          <a:xfrm>
            <a:off x="6667500" y="3200400"/>
            <a:ext cx="4953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1E293B"/>
                </a:solidFill>
                <a:latin typeface="DM Sans"/>
                <a:ea typeface="DM Sans"/>
                <a:cs typeface="DM Sans"/>
                <a:sym typeface="DM Sans"/>
              </a:rPr>
              <a:t>Bahasa:</a:t>
            </a:r>
            <a:r>
              <a:rPr b="0" i="0" lang="en-US" sz="1500" u="none" cap="none" strike="noStrike">
                <a:solidFill>
                  <a:srgbClr val="1E293B"/>
                </a:solidFill>
                <a:latin typeface="DM Sans"/>
                <a:ea typeface="DM Sans"/>
                <a:cs typeface="DM Sans"/>
                <a:sym typeface="DM Sans"/>
              </a:rPr>
              <a:t> Bahasa Indonesia informal/sehari-hari.</a:t>
            </a:r>
            <a:endParaRPr/>
          </a:p>
        </p:txBody>
      </p:sp>
      <p:sp>
        <p:nvSpPr>
          <p:cNvPr id="119" name="Google Shape;119;p15"/>
          <p:cNvSpPr txBox="1"/>
          <p:nvPr/>
        </p:nvSpPr>
        <p:spPr>
          <a:xfrm>
            <a:off x="6667500" y="3676650"/>
            <a:ext cx="4953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1E293B"/>
                </a:solidFill>
                <a:latin typeface="DM Sans"/>
                <a:ea typeface="DM Sans"/>
                <a:cs typeface="DM Sans"/>
                <a:sym typeface="DM Sans"/>
              </a:rPr>
              <a:t>Distribusi:</a:t>
            </a:r>
            <a:r>
              <a:rPr b="0" i="0" lang="en-US" sz="1500" u="none" cap="none" strike="noStrike">
                <a:solidFill>
                  <a:srgbClr val="1E293B"/>
                </a:solidFill>
                <a:latin typeface="DM Sans"/>
                <a:ea typeface="DM Sans"/>
                <a:cs typeface="DM Sans"/>
                <a:sym typeface="DM Sans"/>
              </a:rPr>
              <a:t> Seimbang (2.821 Negatif / 2.579 Positif).</a:t>
            </a:r>
            <a:endParaRPr/>
          </a:p>
        </p:txBody>
      </p:sp>
      <p:sp>
        <p:nvSpPr>
          <p:cNvPr id="120" name="Google Shape;120;p15"/>
          <p:cNvSpPr txBox="1"/>
          <p:nvPr/>
        </p:nvSpPr>
        <p:spPr>
          <a:xfrm>
            <a:off x="6667500" y="4152900"/>
            <a:ext cx="4953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1E293B"/>
                </a:solidFill>
                <a:latin typeface="DM Sans"/>
                <a:ea typeface="DM Sans"/>
                <a:cs typeface="DM Sans"/>
                <a:sym typeface="DM Sans"/>
              </a:rPr>
              <a:t>Atribut Utama:</a:t>
            </a:r>
            <a:r>
              <a:rPr b="0" i="0" lang="en-US" sz="1500" u="none" cap="none" strike="noStrike">
                <a:solidFill>
                  <a:srgbClr val="1E293B"/>
                </a:solidFill>
                <a:latin typeface="DM Sans"/>
                <a:ea typeface="DM Sans"/>
                <a:cs typeface="DM Sans"/>
                <a:sym typeface="DM Sans"/>
              </a:rPr>
              <a:t> Teks Ulasan, Harga, Peringkat.</a:t>
            </a:r>
            <a:endParaRPr/>
          </a:p>
        </p:txBody>
      </p:sp>
      <p:pic>
        <p:nvPicPr>
          <p:cNvPr descr="image.png" id="121" name="Google Shape;121;p15"/>
          <p:cNvPicPr preferRelativeResize="0"/>
          <p:nvPr/>
        </p:nvPicPr>
        <p:blipFill rotWithShape="1">
          <a:blip r:embed="rId6">
            <a:alphaModFix/>
          </a:blip>
          <a:srcRect b="0" l="0" r="0" t="0"/>
          <a:stretch/>
        </p:blipFill>
        <p:spPr>
          <a:xfrm>
            <a:off x="6286500" y="2762250"/>
            <a:ext cx="200025" cy="247650"/>
          </a:xfrm>
          <a:prstGeom prst="rect">
            <a:avLst/>
          </a:prstGeom>
          <a:noFill/>
          <a:ln>
            <a:noFill/>
          </a:ln>
        </p:spPr>
      </p:pic>
      <p:pic>
        <p:nvPicPr>
          <p:cNvPr descr="image.png" id="122" name="Google Shape;122;p15"/>
          <p:cNvPicPr preferRelativeResize="0"/>
          <p:nvPr/>
        </p:nvPicPr>
        <p:blipFill rotWithShape="1">
          <a:blip r:embed="rId7">
            <a:alphaModFix/>
          </a:blip>
          <a:srcRect b="0" l="0" r="0" t="0"/>
          <a:stretch/>
        </p:blipFill>
        <p:spPr>
          <a:xfrm>
            <a:off x="6286500" y="3238500"/>
            <a:ext cx="285750" cy="247650"/>
          </a:xfrm>
          <a:prstGeom prst="rect">
            <a:avLst/>
          </a:prstGeom>
          <a:noFill/>
          <a:ln>
            <a:noFill/>
          </a:ln>
        </p:spPr>
      </p:pic>
      <p:pic>
        <p:nvPicPr>
          <p:cNvPr descr="image.png" id="123" name="Google Shape;123;p15"/>
          <p:cNvPicPr preferRelativeResize="0"/>
          <p:nvPr/>
        </p:nvPicPr>
        <p:blipFill rotWithShape="1">
          <a:blip r:embed="rId8">
            <a:alphaModFix/>
          </a:blip>
          <a:srcRect b="0" l="0" r="0" t="0"/>
          <a:stretch/>
        </p:blipFill>
        <p:spPr>
          <a:xfrm>
            <a:off x="6286500" y="3714750"/>
            <a:ext cx="285750" cy="247650"/>
          </a:xfrm>
          <a:prstGeom prst="rect">
            <a:avLst/>
          </a:prstGeom>
          <a:noFill/>
          <a:ln>
            <a:noFill/>
          </a:ln>
        </p:spPr>
      </p:pic>
      <p:pic>
        <p:nvPicPr>
          <p:cNvPr descr="image.png" id="124" name="Google Shape;124;p15"/>
          <p:cNvPicPr preferRelativeResize="0"/>
          <p:nvPr/>
        </p:nvPicPr>
        <p:blipFill rotWithShape="1">
          <a:blip r:embed="rId9">
            <a:alphaModFix/>
          </a:blip>
          <a:srcRect b="0" l="0" r="0" t="0"/>
          <a:stretch/>
        </p:blipFill>
        <p:spPr>
          <a:xfrm>
            <a:off x="6286500" y="4191000"/>
            <a:ext cx="200025" cy="247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28" name="Shape 128"/>
        <p:cNvGrpSpPr/>
        <p:nvPr/>
      </p:nvGrpSpPr>
      <p:grpSpPr>
        <a:xfrm>
          <a:off x="0" y="0"/>
          <a:ext cx="0" cy="0"/>
          <a:chOff x="0" y="0"/>
          <a:chExt cx="0" cy="0"/>
        </a:xfrm>
      </p:grpSpPr>
      <p:pic>
        <p:nvPicPr>
          <p:cNvPr descr="image.png" id="129" name="Google Shape;129;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0" name="Google Shape;130;p16"/>
          <p:cNvPicPr preferRelativeResize="0"/>
          <p:nvPr/>
        </p:nvPicPr>
        <p:blipFill rotWithShape="1">
          <a:blip r:embed="rId4">
            <a:alphaModFix/>
          </a:blip>
          <a:srcRect b="0" l="0" r="0" t="0"/>
          <a:stretch/>
        </p:blipFill>
        <p:spPr>
          <a:xfrm>
            <a:off x="571500" y="1809750"/>
            <a:ext cx="3555950" cy="2533650"/>
          </a:xfrm>
          <a:prstGeom prst="rect">
            <a:avLst/>
          </a:prstGeom>
          <a:noFill/>
          <a:ln>
            <a:noFill/>
          </a:ln>
        </p:spPr>
      </p:pic>
      <p:pic>
        <p:nvPicPr>
          <p:cNvPr descr="image.png" id="131" name="Google Shape;131;p16"/>
          <p:cNvPicPr preferRelativeResize="0"/>
          <p:nvPr/>
        </p:nvPicPr>
        <p:blipFill rotWithShape="1">
          <a:blip r:embed="rId5">
            <a:alphaModFix/>
          </a:blip>
          <a:srcRect b="0" l="0" r="0" t="0"/>
          <a:stretch/>
        </p:blipFill>
        <p:spPr>
          <a:xfrm>
            <a:off x="4317950" y="1809750"/>
            <a:ext cx="3555950" cy="2533650"/>
          </a:xfrm>
          <a:prstGeom prst="rect">
            <a:avLst/>
          </a:prstGeom>
          <a:noFill/>
          <a:ln>
            <a:noFill/>
          </a:ln>
        </p:spPr>
      </p:pic>
      <p:pic>
        <p:nvPicPr>
          <p:cNvPr descr="image.png" id="132" name="Google Shape;132;p16"/>
          <p:cNvPicPr preferRelativeResize="0"/>
          <p:nvPr/>
        </p:nvPicPr>
        <p:blipFill rotWithShape="1">
          <a:blip r:embed="rId6">
            <a:alphaModFix/>
          </a:blip>
          <a:srcRect b="0" l="0" r="0" t="0"/>
          <a:stretch/>
        </p:blipFill>
        <p:spPr>
          <a:xfrm>
            <a:off x="8064400" y="1809750"/>
            <a:ext cx="3555950" cy="2533650"/>
          </a:xfrm>
          <a:prstGeom prst="rect">
            <a:avLst/>
          </a:prstGeom>
          <a:noFill/>
          <a:ln>
            <a:noFill/>
          </a:ln>
        </p:spPr>
      </p:pic>
      <p:sp>
        <p:nvSpPr>
          <p:cNvPr id="133" name="Google Shape;133;p16"/>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5088"/>
                </a:solidFill>
                <a:latin typeface="Merriweather"/>
                <a:ea typeface="Merriweather"/>
                <a:cs typeface="Merriweather"/>
                <a:sym typeface="Merriweather"/>
              </a:rPr>
              <a:t>Pipa Rekayasa Data (Data Engineering)</a:t>
            </a:r>
            <a:endParaRPr/>
          </a:p>
        </p:txBody>
      </p:sp>
      <p:sp>
        <p:nvSpPr>
          <p:cNvPr id="134" name="Google Shape;134;p16"/>
          <p:cNvSpPr/>
          <p:nvPr/>
        </p:nvSpPr>
        <p:spPr>
          <a:xfrm>
            <a:off x="571500" y="1114425"/>
            <a:ext cx="110490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16"/>
          <p:cNvSpPr txBox="1"/>
          <p:nvPr/>
        </p:nvSpPr>
        <p:spPr>
          <a:xfrm>
            <a:off x="571500" y="4629150"/>
            <a:ext cx="11049000" cy="285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1" lang="en-US" sz="1500" u="none" cap="none" strike="noStrike">
                <a:solidFill>
                  <a:srgbClr val="1E293B"/>
                </a:solidFill>
                <a:latin typeface="DM Sans"/>
                <a:ea typeface="DM Sans"/>
                <a:cs typeface="DM Sans"/>
                <a:sym typeface="DM Sans"/>
              </a:rPr>
              <a:t>Memastikan representasi numerik yang berkualitas tinggi untuk proses pelatihan model.</a:t>
            </a:r>
            <a:endParaRPr/>
          </a:p>
        </p:txBody>
      </p:sp>
      <p:sp>
        <p:nvSpPr>
          <p:cNvPr id="136" name="Google Shape;136;p16"/>
          <p:cNvSpPr txBox="1"/>
          <p:nvPr/>
        </p:nvSpPr>
        <p:spPr>
          <a:xfrm>
            <a:off x="782638" y="2800350"/>
            <a:ext cx="3133672"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3F0DF"/>
                </a:solidFill>
                <a:latin typeface="Merriweather"/>
                <a:ea typeface="Merriweather"/>
                <a:cs typeface="Merriweather"/>
                <a:sym typeface="Merriweather"/>
              </a:rPr>
              <a:t>Pembersihan (Cleaning)</a:t>
            </a:r>
            <a:endParaRPr/>
          </a:p>
        </p:txBody>
      </p:sp>
      <p:sp>
        <p:nvSpPr>
          <p:cNvPr id="137" name="Google Shape;137;p16"/>
          <p:cNvSpPr txBox="1"/>
          <p:nvPr/>
        </p:nvSpPr>
        <p:spPr>
          <a:xfrm>
            <a:off x="857250" y="3219450"/>
            <a:ext cx="2984450" cy="6858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200" u="none" cap="none" strike="noStrike">
                <a:solidFill>
                  <a:srgbClr val="F3F0DF"/>
                </a:solidFill>
                <a:latin typeface="DM Sans"/>
                <a:ea typeface="DM Sans"/>
                <a:cs typeface="DM Sans"/>
                <a:sym typeface="DM Sans"/>
              </a:rPr>
              <a:t>Case folding, Regex (penghapusan karakter noise), dan Tokenisasi menggunakan NLTK.</a:t>
            </a:r>
            <a:endParaRPr/>
          </a:p>
        </p:txBody>
      </p:sp>
      <p:sp>
        <p:nvSpPr>
          <p:cNvPr id="138" name="Google Shape;138;p16"/>
          <p:cNvSpPr txBox="1"/>
          <p:nvPr/>
        </p:nvSpPr>
        <p:spPr>
          <a:xfrm>
            <a:off x="4529089" y="2800350"/>
            <a:ext cx="3133672"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3F0DF"/>
                </a:solidFill>
                <a:latin typeface="Merriweather"/>
                <a:ea typeface="Merriweather"/>
                <a:cs typeface="Merriweather"/>
                <a:sym typeface="Merriweather"/>
              </a:rPr>
              <a:t>Penyaringan (Filtering)</a:t>
            </a:r>
            <a:endParaRPr/>
          </a:p>
        </p:txBody>
      </p:sp>
      <p:sp>
        <p:nvSpPr>
          <p:cNvPr id="139" name="Google Shape;139;p16"/>
          <p:cNvSpPr txBox="1"/>
          <p:nvPr/>
        </p:nvSpPr>
        <p:spPr>
          <a:xfrm>
            <a:off x="4603700" y="3219450"/>
            <a:ext cx="2984450" cy="45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200" u="none" cap="none" strike="noStrike">
                <a:solidFill>
                  <a:srgbClr val="F3F0DF"/>
                </a:solidFill>
                <a:latin typeface="DM Sans"/>
                <a:ea typeface="DM Sans"/>
                <a:cs typeface="DM Sans"/>
                <a:sym typeface="DM Sans"/>
              </a:rPr>
              <a:t>Penghapusan Stopwords kustom termasuk singkatan gaul (yg, klo, bgt, trimakasih).</a:t>
            </a:r>
            <a:endParaRPr/>
          </a:p>
        </p:txBody>
      </p:sp>
      <p:sp>
        <p:nvSpPr>
          <p:cNvPr id="140" name="Google Shape;140;p16"/>
          <p:cNvSpPr txBox="1"/>
          <p:nvPr/>
        </p:nvSpPr>
        <p:spPr>
          <a:xfrm>
            <a:off x="8275539" y="2800350"/>
            <a:ext cx="3133672"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3F0DF"/>
                </a:solidFill>
                <a:latin typeface="Merriweather"/>
                <a:ea typeface="Merriweather"/>
                <a:cs typeface="Merriweather"/>
                <a:sym typeface="Merriweather"/>
              </a:rPr>
              <a:t>Vektorisasi (Vectorization)</a:t>
            </a:r>
            <a:endParaRPr/>
          </a:p>
        </p:txBody>
      </p:sp>
      <p:sp>
        <p:nvSpPr>
          <p:cNvPr id="141" name="Google Shape;141;p16"/>
          <p:cNvSpPr txBox="1"/>
          <p:nvPr/>
        </p:nvSpPr>
        <p:spPr>
          <a:xfrm>
            <a:off x="8350150" y="3219450"/>
            <a:ext cx="2984450" cy="45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200" u="none" cap="none" strike="noStrike">
                <a:solidFill>
                  <a:srgbClr val="F3F0DF"/>
                </a:solidFill>
                <a:latin typeface="DM Sans"/>
                <a:ea typeface="DM Sans"/>
                <a:cs typeface="DM Sans"/>
                <a:sym typeface="DM Sans"/>
              </a:rPr>
              <a:t>TF-IDF untuk Machine Learning Tradisional dan Padded Sequences untuk LSTM.</a:t>
            </a:r>
            <a:endParaRPr/>
          </a:p>
        </p:txBody>
      </p:sp>
      <p:pic>
        <p:nvPicPr>
          <p:cNvPr descr="image.png" id="142" name="Google Shape;142;p16"/>
          <p:cNvPicPr preferRelativeResize="0"/>
          <p:nvPr/>
        </p:nvPicPr>
        <p:blipFill rotWithShape="1">
          <a:blip r:embed="rId7">
            <a:alphaModFix/>
          </a:blip>
          <a:srcRect b="0" l="0" r="0" t="0"/>
          <a:stretch/>
        </p:blipFill>
        <p:spPr>
          <a:xfrm>
            <a:off x="2106513" y="2152650"/>
            <a:ext cx="485775" cy="428625"/>
          </a:xfrm>
          <a:prstGeom prst="rect">
            <a:avLst/>
          </a:prstGeom>
          <a:noFill/>
          <a:ln>
            <a:noFill/>
          </a:ln>
        </p:spPr>
      </p:pic>
      <p:pic>
        <p:nvPicPr>
          <p:cNvPr descr="image.png" id="143" name="Google Shape;143;p16"/>
          <p:cNvPicPr preferRelativeResize="0"/>
          <p:nvPr/>
        </p:nvPicPr>
        <p:blipFill rotWithShape="1">
          <a:blip r:embed="rId8">
            <a:alphaModFix/>
          </a:blip>
          <a:srcRect b="0" l="0" r="0" t="0"/>
          <a:stretch/>
        </p:blipFill>
        <p:spPr>
          <a:xfrm>
            <a:off x="5881538" y="2152650"/>
            <a:ext cx="428625" cy="428625"/>
          </a:xfrm>
          <a:prstGeom prst="rect">
            <a:avLst/>
          </a:prstGeom>
          <a:noFill/>
          <a:ln>
            <a:noFill/>
          </a:ln>
        </p:spPr>
      </p:pic>
      <p:pic>
        <p:nvPicPr>
          <p:cNvPr descr="image.png" id="144" name="Google Shape;144;p16"/>
          <p:cNvPicPr preferRelativeResize="0"/>
          <p:nvPr/>
        </p:nvPicPr>
        <p:blipFill rotWithShape="1">
          <a:blip r:embed="rId9">
            <a:alphaModFix/>
          </a:blip>
          <a:srcRect b="0" l="0" r="0" t="0"/>
          <a:stretch/>
        </p:blipFill>
        <p:spPr>
          <a:xfrm>
            <a:off x="9656564" y="2152650"/>
            <a:ext cx="371475" cy="428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48" name="Shape 148"/>
        <p:cNvGrpSpPr/>
        <p:nvPr/>
      </p:nvGrpSpPr>
      <p:grpSpPr>
        <a:xfrm>
          <a:off x="0" y="0"/>
          <a:ext cx="0" cy="0"/>
          <a:chOff x="0" y="0"/>
          <a:chExt cx="0" cy="0"/>
        </a:xfrm>
      </p:grpSpPr>
      <p:pic>
        <p:nvPicPr>
          <p:cNvPr descr="image.png" id="149" name="Google Shape;149;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0" name="Google Shape;150;p17"/>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5088"/>
                </a:solidFill>
                <a:latin typeface="Merriweather"/>
                <a:ea typeface="Merriweather"/>
                <a:cs typeface="Merriweather"/>
                <a:sym typeface="Merriweather"/>
              </a:rPr>
              <a:t>ML Tradisional: Naive Bayes</a:t>
            </a:r>
            <a:endParaRPr/>
          </a:p>
        </p:txBody>
      </p:sp>
      <p:sp>
        <p:nvSpPr>
          <p:cNvPr id="151" name="Google Shape;151;p17"/>
          <p:cNvSpPr/>
          <p:nvPr/>
        </p:nvSpPr>
        <p:spPr>
          <a:xfrm>
            <a:off x="571500" y="1114425"/>
            <a:ext cx="110490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17"/>
          <p:cNvSpPr txBox="1"/>
          <p:nvPr/>
        </p:nvSpPr>
        <p:spPr>
          <a:xfrm>
            <a:off x="571500" y="1428750"/>
            <a:ext cx="56007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Mengapa Multinomial Naive Bayes?</a:t>
            </a:r>
            <a:endParaRPr/>
          </a:p>
        </p:txBody>
      </p:sp>
      <p:sp>
        <p:nvSpPr>
          <p:cNvPr id="153" name="Google Shape;153;p17"/>
          <p:cNvSpPr txBox="1"/>
          <p:nvPr/>
        </p:nvSpPr>
        <p:spPr>
          <a:xfrm>
            <a:off x="571500" y="1962150"/>
            <a:ext cx="5334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1E293B"/>
                </a:solidFill>
                <a:latin typeface="DM Sans"/>
                <a:ea typeface="DM Sans"/>
                <a:cs typeface="DM Sans"/>
                <a:sym typeface="DM Sans"/>
              </a:rPr>
              <a:t>Dipilih sebagai model acuan (baseline) karena efisiensinya yang sangat tinggi untuk tugas klasifikasi teks.</a:t>
            </a:r>
            <a:endParaRPr/>
          </a:p>
        </p:txBody>
      </p:sp>
      <p:graphicFrame>
        <p:nvGraphicFramePr>
          <p:cNvPr id="154" name="Google Shape;154;p17"/>
          <p:cNvGraphicFramePr/>
          <p:nvPr/>
        </p:nvGraphicFramePr>
        <p:xfrm>
          <a:off x="6286500" y="1619250"/>
          <a:ext cx="3000000" cy="3000000"/>
        </p:xfrm>
        <a:graphic>
          <a:graphicData uri="http://schemas.openxmlformats.org/drawingml/2006/table">
            <a:tbl>
              <a:tblPr bandRow="1" firstRow="1">
                <a:noFill/>
                <a:tableStyleId>{9B63CCED-DF30-4569-8CE0-13F231605FEE}</a:tableStyleId>
              </a:tblPr>
              <a:tblGrid>
                <a:gridCol w="2623250"/>
                <a:gridCol w="2710750"/>
              </a:tblGrid>
              <a:tr h="492925">
                <a:tc>
                  <a:txBody>
                    <a:bodyPr/>
                    <a:lstStyle/>
                    <a:p>
                      <a:pPr indent="0" lvl="0" marL="0" marR="0" rtl="0" algn="l">
                        <a:spcBef>
                          <a:spcPts val="0"/>
                        </a:spcBef>
                        <a:spcAft>
                          <a:spcPts val="0"/>
                        </a:spcAft>
                        <a:buNone/>
                      </a:pPr>
                      <a:r>
                        <a:rPr b="1" i="0" lang="en-US" sz="1200" u="none" cap="none" strike="noStrike">
                          <a:solidFill>
                            <a:srgbClr val="F3F0DF"/>
                          </a:solidFill>
                          <a:latin typeface="DM Sans"/>
                          <a:ea typeface="DM Sans"/>
                          <a:cs typeface="DM Sans"/>
                          <a:sym typeface="DM Sans"/>
                        </a:rPr>
                        <a:t>Metrik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5088"/>
                    </a:solidFill>
                  </a:tcPr>
                </a:tc>
                <a:tc>
                  <a:txBody>
                    <a:bodyPr/>
                    <a:lstStyle/>
                    <a:p>
                      <a:pPr indent="0" lvl="0" marL="0" marR="0" rtl="0" algn="l">
                        <a:spcBef>
                          <a:spcPts val="0"/>
                        </a:spcBef>
                        <a:spcAft>
                          <a:spcPts val="0"/>
                        </a:spcAft>
                        <a:buNone/>
                      </a:pPr>
                      <a:r>
                        <a:rPr b="1" i="0" lang="en-US" sz="1200" u="none" cap="none" strike="noStrike">
                          <a:solidFill>
                            <a:srgbClr val="F3F0DF"/>
                          </a:solidFill>
                          <a:latin typeface="DM Sans"/>
                          <a:ea typeface="DM Sans"/>
                          <a:cs typeface="DM Sans"/>
                          <a:sym typeface="DM Sans"/>
                        </a:rPr>
                        <a:t>Nilai Estimasi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5088"/>
                    </a:solidFill>
                  </a:tcPr>
                </a:tc>
              </a:tr>
              <a:tr h="492925">
                <a:tc>
                  <a:txBody>
                    <a:bodyPr/>
                    <a:lstStyle/>
                    <a:p>
                      <a:pPr indent="0" lvl="0" marL="0" marR="0" rtl="0" algn="l">
                        <a:spcBef>
                          <a:spcPts val="0"/>
                        </a:spcBef>
                        <a:spcAft>
                          <a:spcPts val="0"/>
                        </a:spcAft>
                        <a:buNone/>
                      </a:pPr>
                      <a:r>
                        <a:rPr b="0" i="0" lang="en-US" sz="1200" u="none" cap="none" strike="noStrike">
                          <a:solidFill>
                            <a:srgbClr val="000000"/>
                          </a:solidFill>
                          <a:latin typeface="DM Sans"/>
                          <a:ea typeface="DM Sans"/>
                          <a:cs typeface="DM Sans"/>
                          <a:sym typeface="DM Sans"/>
                        </a:rPr>
                        <a:t>Akurasi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000000"/>
                          </a:solidFill>
                          <a:latin typeface="DM Sans"/>
                          <a:ea typeface="DM Sans"/>
                          <a:cs typeface="DM Sans"/>
                          <a:sym typeface="DM Sans"/>
                        </a:rPr>
                        <a:t>~85-88%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92925">
                <a:tc>
                  <a:txBody>
                    <a:bodyPr/>
                    <a:lstStyle/>
                    <a:p>
                      <a:pPr indent="0" lvl="0" marL="0" marR="0" rtl="0" algn="l">
                        <a:spcBef>
                          <a:spcPts val="0"/>
                        </a:spcBef>
                        <a:spcAft>
                          <a:spcPts val="0"/>
                        </a:spcAft>
                        <a:buNone/>
                      </a:pPr>
                      <a:r>
                        <a:rPr b="0" i="0" lang="en-US" sz="1200" u="none" cap="none" strike="noStrike">
                          <a:solidFill>
                            <a:srgbClr val="000000"/>
                          </a:solidFill>
                          <a:latin typeface="DM Sans"/>
                          <a:ea typeface="DM Sans"/>
                          <a:cs typeface="DM Sans"/>
                          <a:sym typeface="DM Sans"/>
                        </a:rPr>
                        <a:t>Kecepatan Pelatihan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000000"/>
                          </a:solidFill>
                          <a:latin typeface="DM Sans"/>
                          <a:ea typeface="DM Sans"/>
                          <a:cs typeface="DM Sans"/>
                          <a:sym typeface="DM Sans"/>
                        </a:rPr>
                        <a:t>&lt; 1 detik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92925">
                <a:tc>
                  <a:txBody>
                    <a:bodyPr/>
                    <a:lstStyle/>
                    <a:p>
                      <a:pPr indent="0" lvl="0" marL="0" marR="0" rtl="0" algn="l">
                        <a:spcBef>
                          <a:spcPts val="0"/>
                        </a:spcBef>
                        <a:spcAft>
                          <a:spcPts val="0"/>
                        </a:spcAft>
                        <a:buNone/>
                      </a:pPr>
                      <a:r>
                        <a:rPr b="0" i="0" lang="en-US" sz="1200" u="none" cap="none" strike="noStrike">
                          <a:solidFill>
                            <a:srgbClr val="000000"/>
                          </a:solidFill>
                          <a:latin typeface="DM Sans"/>
                          <a:ea typeface="DM Sans"/>
                          <a:cs typeface="DM Sans"/>
                          <a:sym typeface="DM Sans"/>
                        </a:rPr>
                        <a:t>Pembagian Data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000000"/>
                          </a:solidFill>
                          <a:latin typeface="DM Sans"/>
                          <a:ea typeface="DM Sans"/>
                          <a:cs typeface="DM Sans"/>
                          <a:sym typeface="DM Sans"/>
                        </a:rPr>
                        <a:t>80% Train / 20% Test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55" name="Google Shape;155;p17"/>
          <p:cNvSpPr txBox="1"/>
          <p:nvPr/>
        </p:nvSpPr>
        <p:spPr>
          <a:xfrm>
            <a:off x="952500" y="2724150"/>
            <a:ext cx="4953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1E293B"/>
                </a:solidFill>
                <a:latin typeface="DM Sans"/>
                <a:ea typeface="DM Sans"/>
                <a:cs typeface="DM Sans"/>
                <a:sym typeface="DM Sans"/>
              </a:rPr>
              <a:t>Performa:</a:t>
            </a:r>
            <a:r>
              <a:rPr b="0" i="0" lang="en-US" sz="1500" u="none" cap="none" strike="noStrike">
                <a:solidFill>
                  <a:srgbClr val="1E293B"/>
                </a:solidFill>
                <a:latin typeface="DM Sans"/>
                <a:ea typeface="DM Sans"/>
                <a:cs typeface="DM Sans"/>
                <a:sym typeface="DM Sans"/>
              </a:rPr>
              <a:t> Proses pelatihan &amp; inferensi sangat cepat.</a:t>
            </a:r>
            <a:endParaRPr/>
          </a:p>
        </p:txBody>
      </p:sp>
      <p:sp>
        <p:nvSpPr>
          <p:cNvPr id="156" name="Google Shape;156;p17"/>
          <p:cNvSpPr txBox="1"/>
          <p:nvPr/>
        </p:nvSpPr>
        <p:spPr>
          <a:xfrm>
            <a:off x="952500" y="3200400"/>
            <a:ext cx="4953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1E293B"/>
                </a:solidFill>
                <a:latin typeface="DM Sans"/>
                <a:ea typeface="DM Sans"/>
                <a:cs typeface="DM Sans"/>
                <a:sym typeface="DM Sans"/>
              </a:rPr>
              <a:t>Efisiensi:</a:t>
            </a:r>
            <a:r>
              <a:rPr b="0" i="0" lang="en-US" sz="1500" u="none" cap="none" strike="noStrike">
                <a:solidFill>
                  <a:srgbClr val="1E293B"/>
                </a:solidFill>
                <a:latin typeface="DM Sans"/>
                <a:ea typeface="DM Sans"/>
                <a:cs typeface="DM Sans"/>
                <a:sym typeface="DM Sans"/>
              </a:rPr>
              <a:t> Beban komputasi yang sangat rendah.</a:t>
            </a:r>
            <a:endParaRPr/>
          </a:p>
        </p:txBody>
      </p:sp>
      <p:sp>
        <p:nvSpPr>
          <p:cNvPr id="157" name="Google Shape;157;p17"/>
          <p:cNvSpPr txBox="1"/>
          <p:nvPr/>
        </p:nvSpPr>
        <p:spPr>
          <a:xfrm>
            <a:off x="952500" y="3676650"/>
            <a:ext cx="4953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1E293B"/>
                </a:solidFill>
                <a:latin typeface="DM Sans"/>
                <a:ea typeface="DM Sans"/>
                <a:cs typeface="DM Sans"/>
                <a:sym typeface="DM Sans"/>
              </a:rPr>
              <a:t>Keandalan:</a:t>
            </a:r>
            <a:r>
              <a:rPr b="0" i="0" lang="en-US" sz="1500" u="none" cap="none" strike="noStrike">
                <a:solidFill>
                  <a:srgbClr val="1E293B"/>
                </a:solidFill>
                <a:latin typeface="DM Sans"/>
                <a:ea typeface="DM Sans"/>
                <a:cs typeface="DM Sans"/>
                <a:sym typeface="DM Sans"/>
              </a:rPr>
              <a:t> Hasil yang kuat pada matriks fitur TF-IDF.</a:t>
            </a:r>
            <a:endParaRPr/>
          </a:p>
        </p:txBody>
      </p:sp>
      <p:sp>
        <p:nvSpPr>
          <p:cNvPr id="158" name="Google Shape;158;p17"/>
          <p:cNvSpPr/>
          <p:nvPr/>
        </p:nvSpPr>
        <p:spPr>
          <a:xfrm>
            <a:off x="6286500" y="2586037"/>
            <a:ext cx="2623244" cy="9525"/>
          </a:xfrm>
          <a:prstGeom prst="rect">
            <a:avLst/>
          </a:prstGeom>
          <a:solidFill>
            <a:srgbClr val="CDD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7"/>
          <p:cNvSpPr/>
          <p:nvPr/>
        </p:nvSpPr>
        <p:spPr>
          <a:xfrm>
            <a:off x="8909744" y="2586037"/>
            <a:ext cx="2710755" cy="9525"/>
          </a:xfrm>
          <a:prstGeom prst="rect">
            <a:avLst/>
          </a:prstGeom>
          <a:solidFill>
            <a:srgbClr val="CDD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17"/>
          <p:cNvSpPr/>
          <p:nvPr/>
        </p:nvSpPr>
        <p:spPr>
          <a:xfrm>
            <a:off x="6286500" y="3081337"/>
            <a:ext cx="2623244" cy="9525"/>
          </a:xfrm>
          <a:prstGeom prst="rect">
            <a:avLst/>
          </a:prstGeom>
          <a:solidFill>
            <a:srgbClr val="CDD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7"/>
          <p:cNvSpPr/>
          <p:nvPr/>
        </p:nvSpPr>
        <p:spPr>
          <a:xfrm>
            <a:off x="8909744" y="3081337"/>
            <a:ext cx="2710755" cy="9525"/>
          </a:xfrm>
          <a:prstGeom prst="rect">
            <a:avLst/>
          </a:prstGeom>
          <a:solidFill>
            <a:srgbClr val="CDD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7"/>
          <p:cNvSpPr/>
          <p:nvPr/>
        </p:nvSpPr>
        <p:spPr>
          <a:xfrm>
            <a:off x="6286500" y="3576637"/>
            <a:ext cx="2623244" cy="9525"/>
          </a:xfrm>
          <a:prstGeom prst="rect">
            <a:avLst/>
          </a:prstGeom>
          <a:solidFill>
            <a:srgbClr val="CDD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7"/>
          <p:cNvSpPr/>
          <p:nvPr/>
        </p:nvSpPr>
        <p:spPr>
          <a:xfrm>
            <a:off x="8909744" y="3576637"/>
            <a:ext cx="2710755" cy="9525"/>
          </a:xfrm>
          <a:prstGeom prst="rect">
            <a:avLst/>
          </a:prstGeom>
          <a:solidFill>
            <a:srgbClr val="CDD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64" name="Google Shape;164;p17"/>
          <p:cNvPicPr preferRelativeResize="0"/>
          <p:nvPr/>
        </p:nvPicPr>
        <p:blipFill rotWithShape="1">
          <a:blip r:embed="rId4">
            <a:alphaModFix/>
          </a:blip>
          <a:srcRect b="0" l="0" r="0" t="0"/>
          <a:stretch/>
        </p:blipFill>
        <p:spPr>
          <a:xfrm>
            <a:off x="571500" y="2762250"/>
            <a:ext cx="200025" cy="247650"/>
          </a:xfrm>
          <a:prstGeom prst="rect">
            <a:avLst/>
          </a:prstGeom>
          <a:noFill/>
          <a:ln>
            <a:noFill/>
          </a:ln>
        </p:spPr>
      </p:pic>
      <p:pic>
        <p:nvPicPr>
          <p:cNvPr descr="image.png" id="165" name="Google Shape;165;p17"/>
          <p:cNvPicPr preferRelativeResize="0"/>
          <p:nvPr/>
        </p:nvPicPr>
        <p:blipFill rotWithShape="1">
          <a:blip r:embed="rId5">
            <a:alphaModFix/>
          </a:blip>
          <a:srcRect b="0" l="0" r="0" t="0"/>
          <a:stretch/>
        </p:blipFill>
        <p:spPr>
          <a:xfrm>
            <a:off x="571500" y="3238500"/>
            <a:ext cx="228600" cy="247650"/>
          </a:xfrm>
          <a:prstGeom prst="rect">
            <a:avLst/>
          </a:prstGeom>
          <a:noFill/>
          <a:ln>
            <a:noFill/>
          </a:ln>
        </p:spPr>
      </p:pic>
      <p:pic>
        <p:nvPicPr>
          <p:cNvPr descr="image.png" id="166" name="Google Shape;166;p17"/>
          <p:cNvPicPr preferRelativeResize="0"/>
          <p:nvPr/>
        </p:nvPicPr>
        <p:blipFill rotWithShape="1">
          <a:blip r:embed="rId6">
            <a:alphaModFix/>
          </a:blip>
          <a:srcRect b="0" l="0" r="0" t="0"/>
          <a:stretch/>
        </p:blipFill>
        <p:spPr>
          <a:xfrm>
            <a:off x="571500" y="3714750"/>
            <a:ext cx="200025" cy="247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70" name="Shape 170"/>
        <p:cNvGrpSpPr/>
        <p:nvPr/>
      </p:nvGrpSpPr>
      <p:grpSpPr>
        <a:xfrm>
          <a:off x="0" y="0"/>
          <a:ext cx="0" cy="0"/>
          <a:chOff x="0" y="0"/>
          <a:chExt cx="0" cy="0"/>
        </a:xfrm>
      </p:grpSpPr>
      <p:pic>
        <p:nvPicPr>
          <p:cNvPr descr="image.png" id="171" name="Google Shape;171;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2" name="Google Shape;172;p18"/>
          <p:cNvPicPr preferRelativeResize="0"/>
          <p:nvPr/>
        </p:nvPicPr>
        <p:blipFill rotWithShape="1">
          <a:blip r:embed="rId4">
            <a:alphaModFix/>
          </a:blip>
          <a:srcRect b="0" l="0" r="0" t="0"/>
          <a:stretch/>
        </p:blipFill>
        <p:spPr>
          <a:xfrm>
            <a:off x="571500" y="1428750"/>
            <a:ext cx="5334000" cy="3810000"/>
          </a:xfrm>
          <a:prstGeom prst="rect">
            <a:avLst/>
          </a:prstGeom>
          <a:noFill/>
          <a:ln>
            <a:noFill/>
          </a:ln>
        </p:spPr>
      </p:pic>
      <p:sp>
        <p:nvSpPr>
          <p:cNvPr id="173" name="Google Shape;173;p18"/>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5088"/>
                </a:solidFill>
                <a:latin typeface="Merriweather"/>
                <a:ea typeface="Merriweather"/>
                <a:cs typeface="Merriweather"/>
                <a:sym typeface="Merriweather"/>
              </a:rPr>
              <a:t>Deep Learning: Arsitektur LSTM</a:t>
            </a:r>
            <a:endParaRPr/>
          </a:p>
        </p:txBody>
      </p:sp>
      <p:sp>
        <p:nvSpPr>
          <p:cNvPr id="174" name="Google Shape;174;p18"/>
          <p:cNvSpPr/>
          <p:nvPr/>
        </p:nvSpPr>
        <p:spPr>
          <a:xfrm>
            <a:off x="571500" y="1114425"/>
            <a:ext cx="110490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75" name="Google Shape;175;p18"/>
          <p:cNvPicPr preferRelativeResize="0"/>
          <p:nvPr/>
        </p:nvPicPr>
        <p:blipFill rotWithShape="1">
          <a:blip r:embed="rId5">
            <a:alphaModFix/>
          </a:blip>
          <a:srcRect b="0" l="0" r="0" t="0"/>
          <a:stretch/>
        </p:blipFill>
        <p:spPr>
          <a:xfrm>
            <a:off x="590550" y="1447800"/>
            <a:ext cx="5295900" cy="3771900"/>
          </a:xfrm>
          <a:prstGeom prst="rect">
            <a:avLst/>
          </a:prstGeom>
          <a:noFill/>
          <a:ln>
            <a:noFill/>
          </a:ln>
        </p:spPr>
      </p:pic>
      <p:sp>
        <p:nvSpPr>
          <p:cNvPr id="176" name="Google Shape;176;p18"/>
          <p:cNvSpPr txBox="1"/>
          <p:nvPr/>
        </p:nvSpPr>
        <p:spPr>
          <a:xfrm>
            <a:off x="6286500" y="1428750"/>
            <a:ext cx="56007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Menangkap Memori Kontekstual</a:t>
            </a:r>
            <a:endParaRPr/>
          </a:p>
        </p:txBody>
      </p:sp>
      <p:sp>
        <p:nvSpPr>
          <p:cNvPr id="177" name="Google Shape;177;p18"/>
          <p:cNvSpPr txBox="1"/>
          <p:nvPr/>
        </p:nvSpPr>
        <p:spPr>
          <a:xfrm>
            <a:off x="6286500" y="1962150"/>
            <a:ext cx="5334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1E293B"/>
                </a:solidFill>
                <a:latin typeface="DM Sans"/>
                <a:ea typeface="DM Sans"/>
                <a:cs typeface="DM Sans"/>
                <a:sym typeface="DM Sans"/>
              </a:rPr>
              <a:t>Long Short-Term Memory (LSTM) mampu menangani deret teks jauh lebih baik dibandingkan metode tradisional.</a:t>
            </a:r>
            <a:endParaRPr/>
          </a:p>
        </p:txBody>
      </p:sp>
      <p:sp>
        <p:nvSpPr>
          <p:cNvPr id="178" name="Google Shape;178;p18"/>
          <p:cNvSpPr txBox="1"/>
          <p:nvPr/>
        </p:nvSpPr>
        <p:spPr>
          <a:xfrm>
            <a:off x="6667500" y="2724150"/>
            <a:ext cx="4953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1E293B"/>
                </a:solidFill>
                <a:latin typeface="DM Sans"/>
                <a:ea typeface="DM Sans"/>
                <a:cs typeface="DM Sans"/>
                <a:sym typeface="DM Sans"/>
              </a:rPr>
              <a:t>Embedding:</a:t>
            </a:r>
            <a:r>
              <a:rPr b="0" i="0" lang="en-US" sz="1500" u="none" cap="none" strike="noStrike">
                <a:solidFill>
                  <a:srgbClr val="1E293B"/>
                </a:solidFill>
                <a:latin typeface="DM Sans"/>
                <a:ea typeface="DM Sans"/>
                <a:cs typeface="DM Sans"/>
                <a:sym typeface="DM Sans"/>
              </a:rPr>
              <a:t> Vektor representasi padat 128-dimensi.</a:t>
            </a:r>
            <a:endParaRPr/>
          </a:p>
        </p:txBody>
      </p:sp>
      <p:sp>
        <p:nvSpPr>
          <p:cNvPr id="179" name="Google Shape;179;p18"/>
          <p:cNvSpPr txBox="1"/>
          <p:nvPr/>
        </p:nvSpPr>
        <p:spPr>
          <a:xfrm>
            <a:off x="6667500" y="3200400"/>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1E293B"/>
                </a:solidFill>
                <a:latin typeface="DM Sans"/>
                <a:ea typeface="DM Sans"/>
                <a:cs typeface="DM Sans"/>
                <a:sym typeface="DM Sans"/>
              </a:rPr>
              <a:t>Recurrent:</a:t>
            </a:r>
            <a:r>
              <a:rPr b="0" i="0" lang="en-US" sz="1500" u="none" cap="none" strike="noStrike">
                <a:solidFill>
                  <a:srgbClr val="1E293B"/>
                </a:solidFill>
                <a:latin typeface="DM Sans"/>
                <a:ea typeface="DM Sans"/>
                <a:cs typeface="DM Sans"/>
                <a:sym typeface="DM Sans"/>
              </a:rPr>
              <a:t> Mengingat ketergantungan konteks antar kata.</a:t>
            </a:r>
            <a:endParaRPr/>
          </a:p>
        </p:txBody>
      </p:sp>
      <p:sp>
        <p:nvSpPr>
          <p:cNvPr id="180" name="Google Shape;180;p18"/>
          <p:cNvSpPr txBox="1"/>
          <p:nvPr/>
        </p:nvSpPr>
        <p:spPr>
          <a:xfrm>
            <a:off x="6667500" y="3962400"/>
            <a:ext cx="4953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1E293B"/>
                </a:solidFill>
                <a:latin typeface="DM Sans"/>
                <a:ea typeface="DM Sans"/>
                <a:cs typeface="DM Sans"/>
                <a:sym typeface="DM Sans"/>
              </a:rPr>
              <a:t>Dropout:</a:t>
            </a:r>
            <a:r>
              <a:rPr b="0" i="0" lang="en-US" sz="1500" u="none" cap="none" strike="noStrike">
                <a:solidFill>
                  <a:srgbClr val="1E293B"/>
                </a:solidFill>
                <a:latin typeface="DM Sans"/>
                <a:ea typeface="DM Sans"/>
                <a:cs typeface="DM Sans"/>
                <a:sym typeface="DM Sans"/>
              </a:rPr>
              <a:t> Mencegah model menghafal data (overfitting).</a:t>
            </a:r>
            <a:endParaRPr/>
          </a:p>
        </p:txBody>
      </p:sp>
      <p:pic>
        <p:nvPicPr>
          <p:cNvPr descr="image.png" id="181" name="Google Shape;181;p18"/>
          <p:cNvPicPr preferRelativeResize="0"/>
          <p:nvPr/>
        </p:nvPicPr>
        <p:blipFill rotWithShape="1">
          <a:blip r:embed="rId6">
            <a:alphaModFix/>
          </a:blip>
          <a:srcRect b="0" l="0" r="0" t="0"/>
          <a:stretch/>
        </p:blipFill>
        <p:spPr>
          <a:xfrm>
            <a:off x="6286500" y="2762250"/>
            <a:ext cx="228600" cy="247650"/>
          </a:xfrm>
          <a:prstGeom prst="rect">
            <a:avLst/>
          </a:prstGeom>
          <a:noFill/>
          <a:ln>
            <a:noFill/>
          </a:ln>
        </p:spPr>
      </p:pic>
      <p:pic>
        <p:nvPicPr>
          <p:cNvPr descr="image.png" id="182" name="Google Shape;182;p18"/>
          <p:cNvPicPr preferRelativeResize="0"/>
          <p:nvPr/>
        </p:nvPicPr>
        <p:blipFill rotWithShape="1">
          <a:blip r:embed="rId7">
            <a:alphaModFix/>
          </a:blip>
          <a:srcRect b="0" l="0" r="0" t="0"/>
          <a:stretch/>
        </p:blipFill>
        <p:spPr>
          <a:xfrm>
            <a:off x="6286500" y="3238500"/>
            <a:ext cx="285750" cy="247650"/>
          </a:xfrm>
          <a:prstGeom prst="rect">
            <a:avLst/>
          </a:prstGeom>
          <a:noFill/>
          <a:ln>
            <a:noFill/>
          </a:ln>
        </p:spPr>
      </p:pic>
      <p:pic>
        <p:nvPicPr>
          <p:cNvPr descr="image.png" id="183" name="Google Shape;183;p18"/>
          <p:cNvPicPr preferRelativeResize="0"/>
          <p:nvPr/>
        </p:nvPicPr>
        <p:blipFill rotWithShape="1">
          <a:blip r:embed="rId8">
            <a:alphaModFix/>
          </a:blip>
          <a:srcRect b="0" l="0" r="0" t="0"/>
          <a:stretch/>
        </p:blipFill>
        <p:spPr>
          <a:xfrm>
            <a:off x="6286500" y="4000500"/>
            <a:ext cx="257175" cy="247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87" name="Shape 187"/>
        <p:cNvGrpSpPr/>
        <p:nvPr/>
      </p:nvGrpSpPr>
      <p:grpSpPr>
        <a:xfrm>
          <a:off x="0" y="0"/>
          <a:ext cx="0" cy="0"/>
          <a:chOff x="0" y="0"/>
          <a:chExt cx="0" cy="0"/>
        </a:xfrm>
      </p:grpSpPr>
      <p:pic>
        <p:nvPicPr>
          <p:cNvPr descr="image.png" id="188" name="Google Shape;188;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9" name="Google Shape;189;p19"/>
          <p:cNvPicPr preferRelativeResize="0"/>
          <p:nvPr/>
        </p:nvPicPr>
        <p:blipFill rotWithShape="1">
          <a:blip r:embed="rId4">
            <a:alphaModFix/>
          </a:blip>
          <a:srcRect b="0" l="0" r="0" t="0"/>
          <a:stretch/>
        </p:blipFill>
        <p:spPr>
          <a:xfrm>
            <a:off x="6286500" y="1428750"/>
            <a:ext cx="5334000" cy="3810000"/>
          </a:xfrm>
          <a:prstGeom prst="rect">
            <a:avLst/>
          </a:prstGeom>
          <a:noFill/>
          <a:ln>
            <a:noFill/>
          </a:ln>
        </p:spPr>
      </p:pic>
      <p:sp>
        <p:nvSpPr>
          <p:cNvPr id="190" name="Google Shape;190;p19"/>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5088"/>
                </a:solidFill>
                <a:latin typeface="Merriweather"/>
                <a:ea typeface="Merriweather"/>
                <a:cs typeface="Merriweather"/>
                <a:sym typeface="Merriweather"/>
              </a:rPr>
              <a:t>Konsep Agentic: "Prediksi &amp; Refleksi"</a:t>
            </a:r>
            <a:endParaRPr/>
          </a:p>
        </p:txBody>
      </p:sp>
      <p:sp>
        <p:nvSpPr>
          <p:cNvPr id="191" name="Google Shape;191;p19"/>
          <p:cNvSpPr/>
          <p:nvPr/>
        </p:nvSpPr>
        <p:spPr>
          <a:xfrm>
            <a:off x="571500" y="1114425"/>
            <a:ext cx="110490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19"/>
          <p:cNvSpPr txBox="1"/>
          <p:nvPr/>
        </p:nvSpPr>
        <p:spPr>
          <a:xfrm>
            <a:off x="571500" y="1428750"/>
            <a:ext cx="56007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Agent Prediktif Otonom</a:t>
            </a:r>
            <a:endParaRPr/>
          </a:p>
        </p:txBody>
      </p:sp>
      <p:sp>
        <p:nvSpPr>
          <p:cNvPr id="193" name="Google Shape;193;p19"/>
          <p:cNvSpPr txBox="1"/>
          <p:nvPr/>
        </p:nvSpPr>
        <p:spPr>
          <a:xfrm>
            <a:off x="571500" y="1962150"/>
            <a:ext cx="5334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1E293B"/>
                </a:solidFill>
                <a:latin typeface="DM Sans"/>
                <a:ea typeface="DM Sans"/>
                <a:cs typeface="DM Sans"/>
                <a:sym typeface="DM Sans"/>
              </a:rPr>
              <a:t>Sistem ini bukan sekadar model diam, melainkan sebuah Agent yang mengelola alur kerjanya sendiri (feedback loop).</a:t>
            </a:r>
            <a:endParaRPr/>
          </a:p>
        </p:txBody>
      </p:sp>
      <p:pic>
        <p:nvPicPr>
          <p:cNvPr descr="image.png" id="194" name="Google Shape;194;p19"/>
          <p:cNvPicPr preferRelativeResize="0"/>
          <p:nvPr/>
        </p:nvPicPr>
        <p:blipFill rotWithShape="1">
          <a:blip r:embed="rId5">
            <a:alphaModFix/>
          </a:blip>
          <a:srcRect b="0" l="0" r="0" t="0"/>
          <a:stretch/>
        </p:blipFill>
        <p:spPr>
          <a:xfrm>
            <a:off x="6305550" y="1447800"/>
            <a:ext cx="5295900" cy="3771900"/>
          </a:xfrm>
          <a:prstGeom prst="rect">
            <a:avLst/>
          </a:prstGeom>
          <a:noFill/>
          <a:ln>
            <a:noFill/>
          </a:ln>
        </p:spPr>
      </p:pic>
      <p:sp>
        <p:nvSpPr>
          <p:cNvPr id="195" name="Google Shape;195;p19"/>
          <p:cNvSpPr txBox="1"/>
          <p:nvPr/>
        </p:nvSpPr>
        <p:spPr>
          <a:xfrm>
            <a:off x="952500" y="2724150"/>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1E293B"/>
                </a:solidFill>
                <a:latin typeface="DM Sans"/>
                <a:ea typeface="DM Sans"/>
                <a:cs typeface="DM Sans"/>
                <a:sym typeface="DM Sans"/>
              </a:rPr>
              <a:t>Agent Inferensi:</a:t>
            </a:r>
            <a:r>
              <a:rPr b="0" i="0" lang="en-US" sz="1500" u="none" cap="none" strike="noStrike">
                <a:solidFill>
                  <a:srgbClr val="1E293B"/>
                </a:solidFill>
                <a:latin typeface="DM Sans"/>
                <a:ea typeface="DM Sans"/>
                <a:cs typeface="DM Sans"/>
                <a:sym typeface="DM Sans"/>
              </a:rPr>
              <a:t> FastAPI memproses input &amp; memprediksi sentimen.</a:t>
            </a:r>
            <a:endParaRPr/>
          </a:p>
        </p:txBody>
      </p:sp>
      <p:sp>
        <p:nvSpPr>
          <p:cNvPr id="196" name="Google Shape;196;p19"/>
          <p:cNvSpPr txBox="1"/>
          <p:nvPr/>
        </p:nvSpPr>
        <p:spPr>
          <a:xfrm>
            <a:off x="952500" y="3486150"/>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1E293B"/>
                </a:solidFill>
                <a:latin typeface="DM Sans"/>
                <a:ea typeface="DM Sans"/>
                <a:cs typeface="DM Sans"/>
                <a:sym typeface="DM Sans"/>
              </a:rPr>
              <a:t>Alat Memori:</a:t>
            </a:r>
            <a:r>
              <a:rPr b="0" i="0" lang="en-US" sz="1500" u="none" cap="none" strike="noStrike">
                <a:solidFill>
                  <a:srgbClr val="1E293B"/>
                </a:solidFill>
                <a:latin typeface="DM Sans"/>
                <a:ea typeface="DM Sans"/>
                <a:cs typeface="DM Sans"/>
                <a:sym typeface="DM Sans"/>
              </a:rPr>
              <a:t> Pencatatan riwayat (logging) otomatis ke format CSV.</a:t>
            </a:r>
            <a:endParaRPr/>
          </a:p>
        </p:txBody>
      </p:sp>
      <p:sp>
        <p:nvSpPr>
          <p:cNvPr id="197" name="Google Shape;197;p19"/>
          <p:cNvSpPr txBox="1"/>
          <p:nvPr/>
        </p:nvSpPr>
        <p:spPr>
          <a:xfrm>
            <a:off x="952500" y="4248150"/>
            <a:ext cx="4953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1E293B"/>
                </a:solidFill>
                <a:latin typeface="DM Sans"/>
                <a:ea typeface="DM Sans"/>
                <a:cs typeface="DM Sans"/>
                <a:sym typeface="DM Sans"/>
              </a:rPr>
              <a:t>Alat Reflektif:</a:t>
            </a:r>
            <a:r>
              <a:rPr b="0" i="0" lang="en-US" sz="1500" u="none" cap="none" strike="noStrike">
                <a:solidFill>
                  <a:srgbClr val="1E293B"/>
                </a:solidFill>
                <a:latin typeface="DM Sans"/>
                <a:ea typeface="DM Sans"/>
                <a:cs typeface="DM Sans"/>
                <a:sym typeface="DM Sans"/>
              </a:rPr>
              <a:t> Endpoint analitik menghitung statistik "Top 5" secara dinamis.</a:t>
            </a:r>
            <a:endParaRPr/>
          </a:p>
        </p:txBody>
      </p:sp>
      <p:pic>
        <p:nvPicPr>
          <p:cNvPr descr="image.png" id="198" name="Google Shape;198;p19"/>
          <p:cNvPicPr preferRelativeResize="0"/>
          <p:nvPr/>
        </p:nvPicPr>
        <p:blipFill rotWithShape="1">
          <a:blip r:embed="rId6">
            <a:alphaModFix/>
          </a:blip>
          <a:srcRect b="0" l="0" r="0" t="0"/>
          <a:stretch/>
        </p:blipFill>
        <p:spPr>
          <a:xfrm>
            <a:off x="571500" y="2762250"/>
            <a:ext cx="285750" cy="247650"/>
          </a:xfrm>
          <a:prstGeom prst="rect">
            <a:avLst/>
          </a:prstGeom>
          <a:noFill/>
          <a:ln>
            <a:noFill/>
          </a:ln>
        </p:spPr>
      </p:pic>
      <p:pic>
        <p:nvPicPr>
          <p:cNvPr descr="image.png" id="199" name="Google Shape;199;p19"/>
          <p:cNvPicPr preferRelativeResize="0"/>
          <p:nvPr/>
        </p:nvPicPr>
        <p:blipFill rotWithShape="1">
          <a:blip r:embed="rId7">
            <a:alphaModFix/>
          </a:blip>
          <a:srcRect b="0" l="0" r="0" t="0"/>
          <a:stretch/>
        </p:blipFill>
        <p:spPr>
          <a:xfrm>
            <a:off x="571500" y="3524250"/>
            <a:ext cx="200025" cy="247650"/>
          </a:xfrm>
          <a:prstGeom prst="rect">
            <a:avLst/>
          </a:prstGeom>
          <a:noFill/>
          <a:ln>
            <a:noFill/>
          </a:ln>
        </p:spPr>
      </p:pic>
      <p:pic>
        <p:nvPicPr>
          <p:cNvPr descr="image.png" id="200" name="Google Shape;200;p19"/>
          <p:cNvPicPr preferRelativeResize="0"/>
          <p:nvPr/>
        </p:nvPicPr>
        <p:blipFill rotWithShape="1">
          <a:blip r:embed="rId8">
            <a:alphaModFix/>
          </a:blip>
          <a:srcRect b="0" l="0" r="0" t="0"/>
          <a:stretch/>
        </p:blipFill>
        <p:spPr>
          <a:xfrm>
            <a:off x="571500" y="4286250"/>
            <a:ext cx="228600" cy="247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04" name="Shape 204"/>
        <p:cNvGrpSpPr/>
        <p:nvPr/>
      </p:nvGrpSpPr>
      <p:grpSpPr>
        <a:xfrm>
          <a:off x="0" y="0"/>
          <a:ext cx="0" cy="0"/>
          <a:chOff x="0" y="0"/>
          <a:chExt cx="0" cy="0"/>
        </a:xfrm>
      </p:grpSpPr>
      <p:pic>
        <p:nvPicPr>
          <p:cNvPr descr="image.png" id="205" name="Google Shape;205;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6" name="Google Shape;206;p20"/>
          <p:cNvPicPr preferRelativeResize="0"/>
          <p:nvPr/>
        </p:nvPicPr>
        <p:blipFill rotWithShape="1">
          <a:blip r:embed="rId4">
            <a:alphaModFix/>
          </a:blip>
          <a:srcRect b="0" l="0" r="0" t="0"/>
          <a:stretch/>
        </p:blipFill>
        <p:spPr>
          <a:xfrm>
            <a:off x="571500" y="2095500"/>
            <a:ext cx="11049000" cy="2409825"/>
          </a:xfrm>
          <a:prstGeom prst="rect">
            <a:avLst/>
          </a:prstGeom>
          <a:noFill/>
          <a:ln>
            <a:noFill/>
          </a:ln>
        </p:spPr>
      </p:pic>
      <p:pic>
        <p:nvPicPr>
          <p:cNvPr descr="image.png" id="207" name="Google Shape;207;p20"/>
          <p:cNvPicPr preferRelativeResize="0"/>
          <p:nvPr/>
        </p:nvPicPr>
        <p:blipFill rotWithShape="1">
          <a:blip r:embed="rId5">
            <a:alphaModFix/>
          </a:blip>
          <a:srcRect b="0" l="0" r="0" t="0"/>
          <a:stretch/>
        </p:blipFill>
        <p:spPr>
          <a:xfrm>
            <a:off x="1426815" y="2495550"/>
            <a:ext cx="2095500" cy="819150"/>
          </a:xfrm>
          <a:prstGeom prst="rect">
            <a:avLst/>
          </a:prstGeom>
          <a:noFill/>
          <a:ln>
            <a:noFill/>
          </a:ln>
        </p:spPr>
      </p:pic>
      <p:pic>
        <p:nvPicPr>
          <p:cNvPr descr="image.png" id="208" name="Google Shape;208;p20"/>
          <p:cNvPicPr preferRelativeResize="0"/>
          <p:nvPr/>
        </p:nvPicPr>
        <p:blipFill rotWithShape="1">
          <a:blip r:embed="rId6">
            <a:alphaModFix/>
          </a:blip>
          <a:srcRect b="0" l="0" r="0" t="0"/>
          <a:stretch/>
        </p:blipFill>
        <p:spPr>
          <a:xfrm>
            <a:off x="5591026" y="2495550"/>
            <a:ext cx="1333500" cy="819150"/>
          </a:xfrm>
          <a:prstGeom prst="rect">
            <a:avLst/>
          </a:prstGeom>
          <a:noFill/>
          <a:ln>
            <a:noFill/>
          </a:ln>
        </p:spPr>
      </p:pic>
      <p:pic>
        <p:nvPicPr>
          <p:cNvPr descr="image.png" id="209" name="Google Shape;209;p20"/>
          <p:cNvPicPr preferRelativeResize="0"/>
          <p:nvPr/>
        </p:nvPicPr>
        <p:blipFill rotWithShape="1">
          <a:blip r:embed="rId7">
            <a:alphaModFix/>
          </a:blip>
          <a:srcRect b="0" l="0" r="0" t="0"/>
          <a:stretch/>
        </p:blipFill>
        <p:spPr>
          <a:xfrm>
            <a:off x="8993237" y="2495550"/>
            <a:ext cx="1771650" cy="819150"/>
          </a:xfrm>
          <a:prstGeom prst="rect">
            <a:avLst/>
          </a:prstGeom>
          <a:noFill/>
          <a:ln>
            <a:noFill/>
          </a:ln>
        </p:spPr>
      </p:pic>
      <p:sp>
        <p:nvSpPr>
          <p:cNvPr id="210" name="Google Shape;210;p20"/>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5088"/>
                </a:solidFill>
                <a:latin typeface="Merriweather"/>
                <a:ea typeface="Merriweather"/>
                <a:cs typeface="Merriweather"/>
                <a:sym typeface="Merriweather"/>
              </a:rPr>
              <a:t>Arsitektur Sistem Operasional</a:t>
            </a:r>
            <a:endParaRPr/>
          </a:p>
        </p:txBody>
      </p:sp>
      <p:sp>
        <p:nvSpPr>
          <p:cNvPr id="211" name="Google Shape;211;p20"/>
          <p:cNvSpPr/>
          <p:nvPr/>
        </p:nvSpPr>
        <p:spPr>
          <a:xfrm>
            <a:off x="571500" y="1114425"/>
            <a:ext cx="110490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20"/>
          <p:cNvSpPr txBox="1"/>
          <p:nvPr/>
        </p:nvSpPr>
        <p:spPr>
          <a:xfrm>
            <a:off x="571500" y="1619250"/>
            <a:ext cx="110490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1E293B"/>
                </a:solidFill>
                <a:latin typeface="DM Sans"/>
                <a:ea typeface="DM Sans"/>
                <a:cs typeface="DM Sans"/>
                <a:sym typeface="DM Sans"/>
              </a:rPr>
              <a:t>Arsitektur terpisah (decoupled) yang memastikan stabilitas tinggi dan respons real-time.</a:t>
            </a:r>
            <a:endParaRPr/>
          </a:p>
        </p:txBody>
      </p:sp>
      <p:pic>
        <p:nvPicPr>
          <p:cNvPr descr="image.png" id="213" name="Google Shape;213;p20"/>
          <p:cNvPicPr preferRelativeResize="0"/>
          <p:nvPr/>
        </p:nvPicPr>
        <p:blipFill rotWithShape="1">
          <a:blip r:embed="rId8">
            <a:alphaModFix/>
          </a:blip>
          <a:srcRect b="0" l="0" r="0" t="0"/>
          <a:stretch/>
        </p:blipFill>
        <p:spPr>
          <a:xfrm>
            <a:off x="4432845" y="2762250"/>
            <a:ext cx="247650" cy="285750"/>
          </a:xfrm>
          <a:prstGeom prst="rect">
            <a:avLst/>
          </a:prstGeom>
          <a:noFill/>
          <a:ln>
            <a:noFill/>
          </a:ln>
        </p:spPr>
      </p:pic>
      <p:pic>
        <p:nvPicPr>
          <p:cNvPr descr="image.png" id="214" name="Google Shape;214;p20"/>
          <p:cNvPicPr preferRelativeResize="0"/>
          <p:nvPr/>
        </p:nvPicPr>
        <p:blipFill rotWithShape="1">
          <a:blip r:embed="rId9">
            <a:alphaModFix/>
          </a:blip>
          <a:srcRect b="0" l="0" r="0" t="0"/>
          <a:stretch/>
        </p:blipFill>
        <p:spPr>
          <a:xfrm>
            <a:off x="7835056" y="2762250"/>
            <a:ext cx="247650" cy="285750"/>
          </a:xfrm>
          <a:prstGeom prst="rect">
            <a:avLst/>
          </a:prstGeom>
          <a:noFill/>
          <a:ln>
            <a:noFill/>
          </a:ln>
        </p:spPr>
      </p:pic>
      <p:pic>
        <p:nvPicPr>
          <p:cNvPr descr="image.png" id="215" name="Google Shape;215;p20"/>
          <p:cNvPicPr preferRelativeResize="0"/>
          <p:nvPr/>
        </p:nvPicPr>
        <p:blipFill rotWithShape="1">
          <a:blip r:embed="rId10">
            <a:alphaModFix/>
          </a:blip>
          <a:srcRect b="0" l="0" r="0" t="0"/>
          <a:stretch/>
        </p:blipFill>
        <p:spPr>
          <a:xfrm>
            <a:off x="3814762" y="3781425"/>
            <a:ext cx="133350" cy="152400"/>
          </a:xfrm>
          <a:prstGeom prst="rect">
            <a:avLst/>
          </a:prstGeom>
          <a:noFill/>
          <a:ln>
            <a:noFill/>
          </a:ln>
        </p:spPr>
      </p:pic>
      <p:sp>
        <p:nvSpPr>
          <p:cNvPr id="216" name="Google Shape;216;p20"/>
          <p:cNvSpPr txBox="1"/>
          <p:nvPr/>
        </p:nvSpPr>
        <p:spPr>
          <a:xfrm>
            <a:off x="3986212" y="3762375"/>
            <a:ext cx="1666875"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00000"/>
                </a:solidFill>
                <a:latin typeface="DM Sans"/>
                <a:ea typeface="DM Sans"/>
                <a:cs typeface="DM Sans"/>
                <a:sym typeface="DM Sans"/>
              </a:rPr>
              <a:t>Penyimpanan Memori:</a:t>
            </a:r>
            <a:endParaRPr/>
          </a:p>
        </p:txBody>
      </p:sp>
      <p:sp>
        <p:nvSpPr>
          <p:cNvPr id="217" name="Google Shape;217;p20"/>
          <p:cNvSpPr txBox="1"/>
          <p:nvPr/>
        </p:nvSpPr>
        <p:spPr>
          <a:xfrm>
            <a:off x="1636365" y="2705100"/>
            <a:ext cx="1676400"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00000"/>
                </a:solidFill>
                <a:latin typeface="DM Sans"/>
                <a:ea typeface="DM Sans"/>
                <a:cs typeface="DM Sans"/>
                <a:sym typeface="DM Sans"/>
              </a:rPr>
              <a:t>Antarmuka (Frontend)</a:t>
            </a:r>
            <a:endParaRPr/>
          </a:p>
        </p:txBody>
      </p:sp>
      <p:sp>
        <p:nvSpPr>
          <p:cNvPr id="218" name="Google Shape;218;p20"/>
          <p:cNvSpPr txBox="1"/>
          <p:nvPr/>
        </p:nvSpPr>
        <p:spPr>
          <a:xfrm>
            <a:off x="5800576" y="2705100"/>
            <a:ext cx="914400"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00000"/>
                </a:solidFill>
                <a:latin typeface="DM Sans"/>
                <a:ea typeface="DM Sans"/>
                <a:cs typeface="DM Sans"/>
                <a:sym typeface="DM Sans"/>
              </a:rPr>
              <a:t>API Backend</a:t>
            </a:r>
            <a:endParaRPr/>
          </a:p>
        </p:txBody>
      </p:sp>
      <p:sp>
        <p:nvSpPr>
          <p:cNvPr id="219" name="Google Shape;219;p20"/>
          <p:cNvSpPr txBox="1"/>
          <p:nvPr/>
        </p:nvSpPr>
        <p:spPr>
          <a:xfrm>
            <a:off x="9559974" y="2705100"/>
            <a:ext cx="638175"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DM Sans"/>
                <a:ea typeface="DM Sans"/>
                <a:cs typeface="DM Sans"/>
                <a:sym typeface="DM Sans"/>
              </a:rPr>
              <a:t>Model AI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23" name="Shape 223"/>
        <p:cNvGrpSpPr/>
        <p:nvPr/>
      </p:nvGrpSpPr>
      <p:grpSpPr>
        <a:xfrm>
          <a:off x="0" y="0"/>
          <a:ext cx="0" cy="0"/>
          <a:chOff x="0" y="0"/>
          <a:chExt cx="0" cy="0"/>
        </a:xfrm>
      </p:grpSpPr>
      <p:pic>
        <p:nvPicPr>
          <p:cNvPr descr="image.png" id="224" name="Google Shape;224;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5" name="Google Shape;225;p21"/>
          <p:cNvPicPr preferRelativeResize="0"/>
          <p:nvPr/>
        </p:nvPicPr>
        <p:blipFill rotWithShape="1">
          <a:blip r:embed="rId4">
            <a:alphaModFix/>
          </a:blip>
          <a:srcRect b="0" l="0" r="0" t="0"/>
          <a:stretch/>
        </p:blipFill>
        <p:spPr>
          <a:xfrm>
            <a:off x="571500" y="1809750"/>
            <a:ext cx="2619375" cy="2305050"/>
          </a:xfrm>
          <a:prstGeom prst="rect">
            <a:avLst/>
          </a:prstGeom>
          <a:noFill/>
          <a:ln>
            <a:noFill/>
          </a:ln>
        </p:spPr>
      </p:pic>
      <p:pic>
        <p:nvPicPr>
          <p:cNvPr descr="image.png" id="226" name="Google Shape;226;p21"/>
          <p:cNvPicPr preferRelativeResize="0"/>
          <p:nvPr/>
        </p:nvPicPr>
        <p:blipFill rotWithShape="1">
          <a:blip r:embed="rId4">
            <a:alphaModFix/>
          </a:blip>
          <a:srcRect b="0" l="0" r="0" t="0"/>
          <a:stretch/>
        </p:blipFill>
        <p:spPr>
          <a:xfrm>
            <a:off x="3381375" y="1809750"/>
            <a:ext cx="2619375" cy="2305050"/>
          </a:xfrm>
          <a:prstGeom prst="rect">
            <a:avLst/>
          </a:prstGeom>
          <a:noFill/>
          <a:ln>
            <a:noFill/>
          </a:ln>
        </p:spPr>
      </p:pic>
      <p:pic>
        <p:nvPicPr>
          <p:cNvPr descr="image.png" id="227" name="Google Shape;227;p21"/>
          <p:cNvPicPr preferRelativeResize="0"/>
          <p:nvPr/>
        </p:nvPicPr>
        <p:blipFill rotWithShape="1">
          <a:blip r:embed="rId4">
            <a:alphaModFix/>
          </a:blip>
          <a:srcRect b="0" l="0" r="0" t="0"/>
          <a:stretch/>
        </p:blipFill>
        <p:spPr>
          <a:xfrm>
            <a:off x="6191250" y="1809750"/>
            <a:ext cx="2619375" cy="2305050"/>
          </a:xfrm>
          <a:prstGeom prst="rect">
            <a:avLst/>
          </a:prstGeom>
          <a:noFill/>
          <a:ln>
            <a:noFill/>
          </a:ln>
        </p:spPr>
      </p:pic>
      <p:pic>
        <p:nvPicPr>
          <p:cNvPr descr="image.png" id="228" name="Google Shape;228;p21"/>
          <p:cNvPicPr preferRelativeResize="0"/>
          <p:nvPr/>
        </p:nvPicPr>
        <p:blipFill rotWithShape="1">
          <a:blip r:embed="rId4">
            <a:alphaModFix/>
          </a:blip>
          <a:srcRect b="0" l="0" r="0" t="0"/>
          <a:stretch/>
        </p:blipFill>
        <p:spPr>
          <a:xfrm>
            <a:off x="9001125" y="1809750"/>
            <a:ext cx="2619375" cy="2305050"/>
          </a:xfrm>
          <a:prstGeom prst="rect">
            <a:avLst/>
          </a:prstGeom>
          <a:noFill/>
          <a:ln>
            <a:noFill/>
          </a:ln>
        </p:spPr>
      </p:pic>
      <p:sp>
        <p:nvSpPr>
          <p:cNvPr id="229" name="Google Shape;229;p21"/>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5088"/>
                </a:solidFill>
                <a:latin typeface="Merriweather"/>
                <a:ea typeface="Merriweather"/>
                <a:cs typeface="Merriweather"/>
                <a:sym typeface="Merriweather"/>
              </a:rPr>
              <a:t>Tumpukan Teknologi (Tech Stack)</a:t>
            </a:r>
            <a:endParaRPr/>
          </a:p>
        </p:txBody>
      </p:sp>
      <p:sp>
        <p:nvSpPr>
          <p:cNvPr id="230" name="Google Shape;230;p21"/>
          <p:cNvSpPr/>
          <p:nvPr/>
        </p:nvSpPr>
        <p:spPr>
          <a:xfrm>
            <a:off x="571500" y="1114425"/>
            <a:ext cx="110490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21"/>
          <p:cNvSpPr txBox="1"/>
          <p:nvPr/>
        </p:nvSpPr>
        <p:spPr>
          <a:xfrm>
            <a:off x="806053" y="2800350"/>
            <a:ext cx="2150268"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3F0DF"/>
                </a:solidFill>
                <a:latin typeface="Merriweather"/>
                <a:ea typeface="Merriweather"/>
                <a:cs typeface="Merriweather"/>
                <a:sym typeface="Merriweather"/>
              </a:rPr>
              <a:t>Inti</a:t>
            </a:r>
            <a:endParaRPr/>
          </a:p>
        </p:txBody>
      </p:sp>
      <p:sp>
        <p:nvSpPr>
          <p:cNvPr id="232" name="Google Shape;232;p21"/>
          <p:cNvSpPr txBox="1"/>
          <p:nvPr/>
        </p:nvSpPr>
        <p:spPr>
          <a:xfrm>
            <a:off x="857250" y="3219450"/>
            <a:ext cx="2047875" cy="228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200" u="none" cap="none" strike="noStrike">
                <a:solidFill>
                  <a:srgbClr val="F3F0DF"/>
                </a:solidFill>
                <a:latin typeface="DM Sans"/>
                <a:ea typeface="DM Sans"/>
                <a:cs typeface="DM Sans"/>
                <a:sym typeface="DM Sans"/>
              </a:rPr>
              <a:t>Python 3.10+</a:t>
            </a:r>
            <a:endParaRPr/>
          </a:p>
        </p:txBody>
      </p:sp>
      <p:sp>
        <p:nvSpPr>
          <p:cNvPr id="233" name="Google Shape;233;p21"/>
          <p:cNvSpPr txBox="1"/>
          <p:nvPr/>
        </p:nvSpPr>
        <p:spPr>
          <a:xfrm>
            <a:off x="3615928" y="2800350"/>
            <a:ext cx="2150268"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3F0DF"/>
                </a:solidFill>
                <a:latin typeface="Merriweather"/>
                <a:ea typeface="Merriweather"/>
                <a:cs typeface="Merriweather"/>
                <a:sym typeface="Merriweather"/>
              </a:rPr>
              <a:t>ML / Deep Learning</a:t>
            </a:r>
            <a:endParaRPr/>
          </a:p>
        </p:txBody>
      </p:sp>
      <p:sp>
        <p:nvSpPr>
          <p:cNvPr id="234" name="Google Shape;234;p21"/>
          <p:cNvSpPr txBox="1"/>
          <p:nvPr/>
        </p:nvSpPr>
        <p:spPr>
          <a:xfrm>
            <a:off x="3667125" y="3219450"/>
            <a:ext cx="2047875" cy="45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200" u="none" cap="none" strike="noStrike">
                <a:solidFill>
                  <a:srgbClr val="F3F0DF"/>
                </a:solidFill>
                <a:latin typeface="DM Sans"/>
                <a:ea typeface="DM Sans"/>
                <a:cs typeface="DM Sans"/>
                <a:sym typeface="DM Sans"/>
              </a:rPr>
              <a:t>TensorFlow, Keras, Scikit-learn</a:t>
            </a:r>
            <a:endParaRPr/>
          </a:p>
        </p:txBody>
      </p:sp>
      <p:sp>
        <p:nvSpPr>
          <p:cNvPr id="235" name="Google Shape;235;p21"/>
          <p:cNvSpPr txBox="1"/>
          <p:nvPr/>
        </p:nvSpPr>
        <p:spPr>
          <a:xfrm>
            <a:off x="6425803" y="2800350"/>
            <a:ext cx="2150268"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3F0DF"/>
                </a:solidFill>
                <a:latin typeface="Merriweather"/>
                <a:ea typeface="Merriweather"/>
                <a:cs typeface="Merriweather"/>
                <a:sym typeface="Merriweather"/>
              </a:rPr>
              <a:t>Kerangka Kerja</a:t>
            </a:r>
            <a:endParaRPr/>
          </a:p>
        </p:txBody>
      </p:sp>
      <p:sp>
        <p:nvSpPr>
          <p:cNvPr id="236" name="Google Shape;236;p21"/>
          <p:cNvSpPr txBox="1"/>
          <p:nvPr/>
        </p:nvSpPr>
        <p:spPr>
          <a:xfrm>
            <a:off x="6477000" y="3219450"/>
            <a:ext cx="2047875" cy="45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200" u="none" cap="none" strike="noStrike">
                <a:solidFill>
                  <a:srgbClr val="F3F0DF"/>
                </a:solidFill>
                <a:latin typeface="DM Sans"/>
                <a:ea typeface="DM Sans"/>
                <a:cs typeface="DM Sans"/>
                <a:sym typeface="DM Sans"/>
              </a:rPr>
              <a:t>FastAPI (Backend), Streamlit (Frontend)</a:t>
            </a:r>
            <a:endParaRPr/>
          </a:p>
        </p:txBody>
      </p:sp>
      <p:sp>
        <p:nvSpPr>
          <p:cNvPr id="237" name="Google Shape;237;p21"/>
          <p:cNvSpPr txBox="1"/>
          <p:nvPr/>
        </p:nvSpPr>
        <p:spPr>
          <a:xfrm>
            <a:off x="9235678" y="2800350"/>
            <a:ext cx="2150268"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3F0DF"/>
                </a:solidFill>
                <a:latin typeface="Merriweather"/>
                <a:ea typeface="Merriweather"/>
                <a:cs typeface="Merriweather"/>
                <a:sym typeface="Merriweather"/>
              </a:rPr>
              <a:t>NLP</a:t>
            </a:r>
            <a:endParaRPr/>
          </a:p>
        </p:txBody>
      </p:sp>
      <p:sp>
        <p:nvSpPr>
          <p:cNvPr id="238" name="Google Shape;238;p21"/>
          <p:cNvSpPr txBox="1"/>
          <p:nvPr/>
        </p:nvSpPr>
        <p:spPr>
          <a:xfrm>
            <a:off x="9286875" y="3219450"/>
            <a:ext cx="2047875" cy="228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200" u="none" cap="none" strike="noStrike">
                <a:solidFill>
                  <a:srgbClr val="F3F0DF"/>
                </a:solidFill>
                <a:latin typeface="DM Sans"/>
                <a:ea typeface="DM Sans"/>
                <a:cs typeface="DM Sans"/>
                <a:sym typeface="DM Sans"/>
              </a:rPr>
              <a:t>NLTK, Pickle</a:t>
            </a:r>
            <a:endParaRPr/>
          </a:p>
        </p:txBody>
      </p:sp>
      <p:pic>
        <p:nvPicPr>
          <p:cNvPr descr="image.png" id="239" name="Google Shape;239;p21"/>
          <p:cNvPicPr preferRelativeResize="0"/>
          <p:nvPr/>
        </p:nvPicPr>
        <p:blipFill rotWithShape="1">
          <a:blip r:embed="rId5">
            <a:alphaModFix/>
          </a:blip>
          <a:srcRect b="0" l="0" r="0" t="0"/>
          <a:stretch/>
        </p:blipFill>
        <p:spPr>
          <a:xfrm>
            <a:off x="1695450" y="2152650"/>
            <a:ext cx="371475" cy="428625"/>
          </a:xfrm>
          <a:prstGeom prst="rect">
            <a:avLst/>
          </a:prstGeom>
          <a:noFill/>
          <a:ln>
            <a:noFill/>
          </a:ln>
        </p:spPr>
      </p:pic>
      <p:pic>
        <p:nvPicPr>
          <p:cNvPr descr="image.png" id="240" name="Google Shape;240;p21"/>
          <p:cNvPicPr preferRelativeResize="0"/>
          <p:nvPr/>
        </p:nvPicPr>
        <p:blipFill rotWithShape="1">
          <a:blip r:embed="rId6">
            <a:alphaModFix/>
          </a:blip>
          <a:srcRect b="0" l="0" r="0" t="0"/>
          <a:stretch/>
        </p:blipFill>
        <p:spPr>
          <a:xfrm>
            <a:off x="4424362" y="2152650"/>
            <a:ext cx="533400" cy="428625"/>
          </a:xfrm>
          <a:prstGeom prst="rect">
            <a:avLst/>
          </a:prstGeom>
          <a:noFill/>
          <a:ln>
            <a:noFill/>
          </a:ln>
        </p:spPr>
      </p:pic>
      <p:pic>
        <p:nvPicPr>
          <p:cNvPr descr="image.png" id="241" name="Google Shape;241;p21"/>
          <p:cNvPicPr preferRelativeResize="0"/>
          <p:nvPr/>
        </p:nvPicPr>
        <p:blipFill rotWithShape="1">
          <a:blip r:embed="rId7">
            <a:alphaModFix/>
          </a:blip>
          <a:srcRect b="0" l="0" r="0" t="0"/>
          <a:stretch/>
        </p:blipFill>
        <p:spPr>
          <a:xfrm>
            <a:off x="7234237" y="2152650"/>
            <a:ext cx="533400" cy="428625"/>
          </a:xfrm>
          <a:prstGeom prst="rect">
            <a:avLst/>
          </a:prstGeom>
          <a:noFill/>
          <a:ln>
            <a:noFill/>
          </a:ln>
        </p:spPr>
      </p:pic>
      <p:pic>
        <p:nvPicPr>
          <p:cNvPr descr="image.png" id="242" name="Google Shape;242;p21"/>
          <p:cNvPicPr preferRelativeResize="0"/>
          <p:nvPr/>
        </p:nvPicPr>
        <p:blipFill rotWithShape="1">
          <a:blip r:embed="rId8">
            <a:alphaModFix/>
          </a:blip>
          <a:srcRect b="0" l="0" r="0" t="0"/>
          <a:stretch/>
        </p:blipFill>
        <p:spPr>
          <a:xfrm>
            <a:off x="10044112" y="2152650"/>
            <a:ext cx="533400" cy="428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46" name="Shape 246"/>
        <p:cNvGrpSpPr/>
        <p:nvPr/>
      </p:nvGrpSpPr>
      <p:grpSpPr>
        <a:xfrm>
          <a:off x="0" y="0"/>
          <a:ext cx="0" cy="0"/>
          <a:chOff x="0" y="0"/>
          <a:chExt cx="0" cy="0"/>
        </a:xfrm>
      </p:grpSpPr>
      <p:pic>
        <p:nvPicPr>
          <p:cNvPr descr="image.png" id="247" name="Google Shape;247;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8" name="Google Shape;248;p22"/>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5088"/>
                </a:solidFill>
                <a:latin typeface="Merriweather"/>
                <a:ea typeface="Merriweather"/>
                <a:cs typeface="Merriweather"/>
                <a:sym typeface="Merriweather"/>
              </a:rPr>
              <a:t>Kesimpulan &amp; Referensi</a:t>
            </a:r>
            <a:endParaRPr/>
          </a:p>
        </p:txBody>
      </p:sp>
      <p:sp>
        <p:nvSpPr>
          <p:cNvPr id="249" name="Google Shape;249;p22"/>
          <p:cNvSpPr/>
          <p:nvPr/>
        </p:nvSpPr>
        <p:spPr>
          <a:xfrm>
            <a:off x="571500" y="1114425"/>
            <a:ext cx="110490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22"/>
          <p:cNvSpPr txBox="1"/>
          <p:nvPr/>
        </p:nvSpPr>
        <p:spPr>
          <a:xfrm>
            <a:off x="762000" y="1619250"/>
            <a:ext cx="112014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Ringkasan Proyek</a:t>
            </a:r>
            <a:endParaRPr/>
          </a:p>
        </p:txBody>
      </p:sp>
      <p:sp>
        <p:nvSpPr>
          <p:cNvPr id="251" name="Google Shape;251;p22"/>
          <p:cNvSpPr txBox="1"/>
          <p:nvPr/>
        </p:nvSpPr>
        <p:spPr>
          <a:xfrm>
            <a:off x="762000" y="2152650"/>
            <a:ext cx="1066800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1E293B"/>
                </a:solidFill>
                <a:latin typeface="DM Sans"/>
                <a:ea typeface="DM Sans"/>
                <a:cs typeface="DM Sans"/>
                <a:sym typeface="DM Sans"/>
              </a:rPr>
              <a:t>Sistem ini berhasil menjembatani data teks ulasan mentah berbahasa Indonesia dengan agent prediksi otomatis. Model LSTM menangani pemahaman konteks bahasa, sementara integrasi FastAPI dan CSV menciptakan "Memori Agentic" yang persisten untuk keperluan analitik bisnis.</a:t>
            </a:r>
            <a:endParaRPr/>
          </a:p>
        </p:txBody>
      </p:sp>
      <p:sp>
        <p:nvSpPr>
          <p:cNvPr id="252" name="Google Shape;252;p22"/>
          <p:cNvSpPr txBox="1"/>
          <p:nvPr/>
        </p:nvSpPr>
        <p:spPr>
          <a:xfrm>
            <a:off x="762000" y="3390900"/>
            <a:ext cx="112014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5088"/>
                </a:solidFill>
                <a:latin typeface="Merriweather"/>
                <a:ea typeface="Merriweather"/>
                <a:cs typeface="Merriweather"/>
                <a:sym typeface="Merriweather"/>
              </a:rPr>
              <a:t>Referensi Utama</a:t>
            </a:r>
            <a:endParaRPr/>
          </a:p>
        </p:txBody>
      </p:sp>
      <p:sp>
        <p:nvSpPr>
          <p:cNvPr id="253" name="Google Shape;253;p22"/>
          <p:cNvSpPr txBox="1"/>
          <p:nvPr/>
        </p:nvSpPr>
        <p:spPr>
          <a:xfrm>
            <a:off x="1076325" y="3886200"/>
            <a:ext cx="666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DM Sans"/>
                <a:ea typeface="DM Sans"/>
                <a:cs typeface="DM Sans"/>
                <a:sym typeface="DM Sans"/>
              </a:rPr>
              <a:t>•</a:t>
            </a:r>
            <a:endParaRPr/>
          </a:p>
        </p:txBody>
      </p:sp>
      <p:sp>
        <p:nvSpPr>
          <p:cNvPr id="254" name="Google Shape;254;p22"/>
          <p:cNvSpPr txBox="1"/>
          <p:nvPr/>
        </p:nvSpPr>
        <p:spPr>
          <a:xfrm>
            <a:off x="1143000" y="3886200"/>
            <a:ext cx="10287000" cy="285750"/>
          </a:xfrm>
          <a:prstGeom prst="rect">
            <a:avLst/>
          </a:prstGeom>
          <a:noFill/>
          <a:ln>
            <a:noFill/>
          </a:ln>
        </p:spPr>
        <p:txBody>
          <a:bodyPr anchorCtr="0" anchor="t" bIns="0" lIns="66675"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1E293B"/>
                </a:solidFill>
                <a:latin typeface="DM Sans"/>
                <a:ea typeface="DM Sans"/>
                <a:cs typeface="DM Sans"/>
                <a:sym typeface="DM Sans"/>
              </a:rPr>
              <a:t>Sutoyo, R., et al. (2022). PRDECT-ID: Indonesian product reviews dataset for emotions classification tasks.</a:t>
            </a:r>
            <a:endParaRPr/>
          </a:p>
        </p:txBody>
      </p:sp>
      <p:sp>
        <p:nvSpPr>
          <p:cNvPr id="255" name="Google Shape;255;p22"/>
          <p:cNvSpPr txBox="1"/>
          <p:nvPr/>
        </p:nvSpPr>
        <p:spPr>
          <a:xfrm>
            <a:off x="1076325" y="4171950"/>
            <a:ext cx="666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DM Sans"/>
                <a:ea typeface="DM Sans"/>
                <a:cs typeface="DM Sans"/>
                <a:sym typeface="DM Sans"/>
              </a:rPr>
              <a:t>•</a:t>
            </a:r>
            <a:endParaRPr/>
          </a:p>
        </p:txBody>
      </p:sp>
      <p:sp>
        <p:nvSpPr>
          <p:cNvPr id="256" name="Google Shape;256;p22"/>
          <p:cNvSpPr txBox="1"/>
          <p:nvPr/>
        </p:nvSpPr>
        <p:spPr>
          <a:xfrm>
            <a:off x="1143000" y="4171950"/>
            <a:ext cx="10287000" cy="285750"/>
          </a:xfrm>
          <a:prstGeom prst="rect">
            <a:avLst/>
          </a:prstGeom>
          <a:noFill/>
          <a:ln>
            <a:noFill/>
          </a:ln>
        </p:spPr>
        <p:txBody>
          <a:bodyPr anchorCtr="0" anchor="t" bIns="0" lIns="66675"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1E293B"/>
                </a:solidFill>
                <a:latin typeface="DM Sans"/>
                <a:ea typeface="DM Sans"/>
                <a:cs typeface="DM Sans"/>
                <a:sym typeface="DM Sans"/>
              </a:rPr>
              <a:t>FastAPI &amp; Streamlit Documentation (Official Guides).</a:t>
            </a:r>
            <a:endParaRPr/>
          </a:p>
        </p:txBody>
      </p:sp>
      <p:sp>
        <p:nvSpPr>
          <p:cNvPr id="257" name="Google Shape;257;p22"/>
          <p:cNvSpPr txBox="1"/>
          <p:nvPr/>
        </p:nvSpPr>
        <p:spPr>
          <a:xfrm>
            <a:off x="1076325" y="4457700"/>
            <a:ext cx="666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DM Sans"/>
                <a:ea typeface="DM Sans"/>
                <a:cs typeface="DM Sans"/>
                <a:sym typeface="DM Sans"/>
              </a:rPr>
              <a:t>•</a:t>
            </a:r>
            <a:endParaRPr/>
          </a:p>
        </p:txBody>
      </p:sp>
      <p:sp>
        <p:nvSpPr>
          <p:cNvPr id="258" name="Google Shape;258;p22"/>
          <p:cNvSpPr txBox="1"/>
          <p:nvPr/>
        </p:nvSpPr>
        <p:spPr>
          <a:xfrm>
            <a:off x="1143000" y="4457700"/>
            <a:ext cx="10287000" cy="285750"/>
          </a:xfrm>
          <a:prstGeom prst="rect">
            <a:avLst/>
          </a:prstGeom>
          <a:noFill/>
          <a:ln>
            <a:noFill/>
          </a:ln>
        </p:spPr>
        <p:txBody>
          <a:bodyPr anchorCtr="0" anchor="t" bIns="0" lIns="66675"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1E293B"/>
                </a:solidFill>
                <a:latin typeface="DM Sans"/>
                <a:ea typeface="DM Sans"/>
                <a:cs typeface="DM Sans"/>
                <a:sym typeface="DM Sans"/>
              </a:rPr>
              <a:t>Chollet, F. (2021). Deep Learning with Python (2nd ed.).</a:t>
            </a:r>
            <a:endParaRPr/>
          </a:p>
        </p:txBody>
      </p:sp>
      <p:sp>
        <p:nvSpPr>
          <p:cNvPr id="259" name="Google Shape;259;p22"/>
          <p:cNvSpPr txBox="1"/>
          <p:nvPr/>
        </p:nvSpPr>
        <p:spPr>
          <a:xfrm>
            <a:off x="1076325" y="4743450"/>
            <a:ext cx="666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1E293B"/>
                </a:solidFill>
                <a:latin typeface="DM Sans"/>
                <a:ea typeface="DM Sans"/>
                <a:cs typeface="DM Sans"/>
                <a:sym typeface="DM Sans"/>
              </a:rPr>
              <a:t>•</a:t>
            </a:r>
            <a:endParaRPr/>
          </a:p>
        </p:txBody>
      </p:sp>
      <p:sp>
        <p:nvSpPr>
          <p:cNvPr id="260" name="Google Shape;260;p22"/>
          <p:cNvSpPr txBox="1"/>
          <p:nvPr/>
        </p:nvSpPr>
        <p:spPr>
          <a:xfrm>
            <a:off x="1143000" y="4743450"/>
            <a:ext cx="10287000" cy="285750"/>
          </a:xfrm>
          <a:prstGeom prst="rect">
            <a:avLst/>
          </a:prstGeom>
          <a:noFill/>
          <a:ln>
            <a:noFill/>
          </a:ln>
        </p:spPr>
        <p:txBody>
          <a:bodyPr anchorCtr="0" anchor="t" bIns="0" lIns="66675"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1E293B"/>
                </a:solidFill>
                <a:latin typeface="DM Sans"/>
                <a:ea typeface="DM Sans"/>
                <a:cs typeface="DM Sans"/>
                <a:sym typeface="DM Sans"/>
              </a:rPr>
              <a:t>Bird, S., et al. (2009). Natural Language Processing with Python.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64" name="Shape 264"/>
        <p:cNvGrpSpPr/>
        <p:nvPr/>
      </p:nvGrpSpPr>
      <p:grpSpPr>
        <a:xfrm>
          <a:off x="0" y="0"/>
          <a:ext cx="0" cy="0"/>
          <a:chOff x="0" y="0"/>
          <a:chExt cx="0" cy="0"/>
        </a:xfrm>
      </p:grpSpPr>
      <p:pic>
        <p:nvPicPr>
          <p:cNvPr descr="image.png" id="265" name="Google Shape;265;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6" name="Google Shape;266;p23"/>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005088"/>
                </a:solidFill>
                <a:latin typeface="Merriweather"/>
                <a:ea typeface="Merriweather"/>
                <a:cs typeface="Merriweather"/>
                <a:sym typeface="Merriweather"/>
              </a:rPr>
              <a:t>Image Sources</a:t>
            </a:r>
            <a:endParaRPr/>
          </a:p>
        </p:txBody>
      </p:sp>
      <p:sp>
        <p:nvSpPr>
          <p:cNvPr id="267" name="Google Shape;267;p23"/>
          <p:cNvSpPr/>
          <p:nvPr/>
        </p:nvSpPr>
        <p:spPr>
          <a:xfrm>
            <a:off x="571500" y="1114425"/>
            <a:ext cx="11049000" cy="28575"/>
          </a:xfrm>
          <a:prstGeom prst="rect">
            <a:avLst/>
          </a:prstGeom>
          <a:solidFill>
            <a:srgbClr val="0050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p23"/>
          <p:cNvSpPr/>
          <p:nvPr/>
        </p:nvSpPr>
        <p:spPr>
          <a:xfrm>
            <a:off x="1143000" y="2000250"/>
            <a:ext cx="990600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23"/>
          <p:cNvSpPr/>
          <p:nvPr/>
        </p:nvSpPr>
        <p:spPr>
          <a:xfrm>
            <a:off x="1143000" y="2771775"/>
            <a:ext cx="990600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0" name="Google Shape;270;p23"/>
          <p:cNvSpPr/>
          <p:nvPr/>
        </p:nvSpPr>
        <p:spPr>
          <a:xfrm>
            <a:off x="1143000" y="3543300"/>
            <a:ext cx="990600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23"/>
          <p:cNvSpPr/>
          <p:nvPr/>
        </p:nvSpPr>
        <p:spPr>
          <a:xfrm>
            <a:off x="1143000" y="2762250"/>
            <a:ext cx="9906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23"/>
          <p:cNvSpPr/>
          <p:nvPr/>
        </p:nvSpPr>
        <p:spPr>
          <a:xfrm>
            <a:off x="1143000" y="2762250"/>
            <a:ext cx="9906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23"/>
          <p:cNvSpPr/>
          <p:nvPr/>
        </p:nvSpPr>
        <p:spPr>
          <a:xfrm>
            <a:off x="1143000" y="3533775"/>
            <a:ext cx="9906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3"/>
          <p:cNvSpPr/>
          <p:nvPr/>
        </p:nvSpPr>
        <p:spPr>
          <a:xfrm>
            <a:off x="1143000" y="3533775"/>
            <a:ext cx="9906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3"/>
          <p:cNvSpPr/>
          <p:nvPr/>
        </p:nvSpPr>
        <p:spPr>
          <a:xfrm>
            <a:off x="1143000" y="4305300"/>
            <a:ext cx="9906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23"/>
          <p:cNvSpPr/>
          <p:nvPr/>
        </p:nvSpPr>
        <p:spPr>
          <a:xfrm>
            <a:off x="1143000" y="4305300"/>
            <a:ext cx="9906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77" name="Google Shape;277;p23"/>
          <p:cNvPicPr preferRelativeResize="0"/>
          <p:nvPr/>
        </p:nvPicPr>
        <p:blipFill rotWithShape="1">
          <a:blip r:embed="rId4">
            <a:alphaModFix/>
          </a:blip>
          <a:srcRect b="0" l="0" r="0" t="0"/>
          <a:stretch/>
        </p:blipFill>
        <p:spPr>
          <a:xfrm>
            <a:off x="1143000" y="2143125"/>
            <a:ext cx="857250" cy="476250"/>
          </a:xfrm>
          <a:prstGeom prst="rect">
            <a:avLst/>
          </a:prstGeom>
          <a:noFill/>
          <a:ln>
            <a:noFill/>
          </a:ln>
        </p:spPr>
      </p:pic>
      <p:sp>
        <p:nvSpPr>
          <p:cNvPr id="278" name="Google Shape;278;p23"/>
          <p:cNvSpPr txBox="1"/>
          <p:nvPr/>
        </p:nvSpPr>
        <p:spPr>
          <a:xfrm>
            <a:off x="2238375" y="2150268"/>
            <a:ext cx="88106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1E293B"/>
                </a:solidFill>
                <a:latin typeface="DM Sans"/>
                <a:ea typeface="DM Sans"/>
                <a:cs typeface="DM Sans"/>
                <a:sym typeface="DM Sans"/>
              </a:rPr>
              <a:t>https://prescienceds.com/wp-content/uploads/2025/02/Data-Dashboard.webp</a:t>
            </a:r>
            <a:endParaRPr/>
          </a:p>
        </p:txBody>
      </p:sp>
      <p:sp>
        <p:nvSpPr>
          <p:cNvPr id="279" name="Google Shape;279;p23"/>
          <p:cNvSpPr txBox="1"/>
          <p:nvPr/>
        </p:nvSpPr>
        <p:spPr>
          <a:xfrm>
            <a:off x="2238375" y="2383631"/>
            <a:ext cx="8810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1E293B"/>
                </a:solidFill>
                <a:latin typeface="DM Sans"/>
                <a:ea typeface="DM Sans"/>
                <a:cs typeface="DM Sans"/>
                <a:sym typeface="DM Sans"/>
              </a:rPr>
              <a:t>Source: </a:t>
            </a:r>
            <a:r>
              <a:rPr b="0" i="0" lang="en-US" sz="1200" u="none" cap="none" strike="noStrike">
                <a:solidFill>
                  <a:srgbClr val="4F46E5"/>
                </a:solidFill>
                <a:latin typeface="DM Sans"/>
                <a:ea typeface="DM Sans"/>
                <a:cs typeface="DM Sans"/>
                <a:sym typeface="DM Sans"/>
              </a:rPr>
              <a:t>prescienceds.com</a:t>
            </a:r>
            <a:endParaRPr/>
          </a:p>
        </p:txBody>
      </p:sp>
      <p:pic>
        <p:nvPicPr>
          <p:cNvPr descr="image.png" id="280" name="Google Shape;280;p23"/>
          <p:cNvPicPr preferRelativeResize="0"/>
          <p:nvPr/>
        </p:nvPicPr>
        <p:blipFill rotWithShape="1">
          <a:blip r:embed="rId5">
            <a:alphaModFix/>
          </a:blip>
          <a:srcRect b="0" l="0" r="0" t="0"/>
          <a:stretch/>
        </p:blipFill>
        <p:spPr>
          <a:xfrm>
            <a:off x="1143000" y="2914650"/>
            <a:ext cx="857250" cy="476250"/>
          </a:xfrm>
          <a:prstGeom prst="rect">
            <a:avLst/>
          </a:prstGeom>
          <a:noFill/>
          <a:ln>
            <a:noFill/>
          </a:ln>
        </p:spPr>
      </p:pic>
      <p:sp>
        <p:nvSpPr>
          <p:cNvPr id="281" name="Google Shape;281;p23"/>
          <p:cNvSpPr txBox="1"/>
          <p:nvPr/>
        </p:nvSpPr>
        <p:spPr>
          <a:xfrm>
            <a:off x="2238375" y="2921793"/>
            <a:ext cx="88106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1E293B"/>
                </a:solidFill>
                <a:latin typeface="DM Sans"/>
                <a:ea typeface="DM Sans"/>
                <a:cs typeface="DM Sans"/>
                <a:sym typeface="DM Sans"/>
              </a:rPr>
              <a:t>https://towardsdatascience.com/wp-content/uploads/2023/05/1Snf8zdZl0ukIvdL3s4qhIg.png</a:t>
            </a:r>
            <a:endParaRPr/>
          </a:p>
        </p:txBody>
      </p:sp>
      <p:sp>
        <p:nvSpPr>
          <p:cNvPr id="282" name="Google Shape;282;p23"/>
          <p:cNvSpPr txBox="1"/>
          <p:nvPr/>
        </p:nvSpPr>
        <p:spPr>
          <a:xfrm>
            <a:off x="2238375" y="3155156"/>
            <a:ext cx="8810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1E293B"/>
                </a:solidFill>
                <a:latin typeface="DM Sans"/>
                <a:ea typeface="DM Sans"/>
                <a:cs typeface="DM Sans"/>
                <a:sym typeface="DM Sans"/>
              </a:rPr>
              <a:t>Source: </a:t>
            </a:r>
            <a:r>
              <a:rPr b="0" i="0" lang="en-US" sz="1200" u="none" cap="none" strike="noStrike">
                <a:solidFill>
                  <a:srgbClr val="4F46E5"/>
                </a:solidFill>
                <a:latin typeface="DM Sans"/>
                <a:ea typeface="DM Sans"/>
                <a:cs typeface="DM Sans"/>
                <a:sym typeface="DM Sans"/>
              </a:rPr>
              <a:t>towardsdatascience.com</a:t>
            </a:r>
            <a:endParaRPr/>
          </a:p>
        </p:txBody>
      </p:sp>
      <p:pic>
        <p:nvPicPr>
          <p:cNvPr descr="image.png" id="283" name="Google Shape;283;p23"/>
          <p:cNvPicPr preferRelativeResize="0"/>
          <p:nvPr/>
        </p:nvPicPr>
        <p:blipFill rotWithShape="1">
          <a:blip r:embed="rId6">
            <a:alphaModFix/>
          </a:blip>
          <a:srcRect b="0" l="0" r="0" t="0"/>
          <a:stretch/>
        </p:blipFill>
        <p:spPr>
          <a:xfrm>
            <a:off x="1143000" y="3686175"/>
            <a:ext cx="857250" cy="476250"/>
          </a:xfrm>
          <a:prstGeom prst="rect">
            <a:avLst/>
          </a:prstGeom>
          <a:noFill/>
          <a:ln>
            <a:noFill/>
          </a:ln>
        </p:spPr>
      </p:pic>
      <p:sp>
        <p:nvSpPr>
          <p:cNvPr id="284" name="Google Shape;284;p23"/>
          <p:cNvSpPr txBox="1"/>
          <p:nvPr/>
        </p:nvSpPr>
        <p:spPr>
          <a:xfrm>
            <a:off x="2238375" y="3693318"/>
            <a:ext cx="88106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1E293B"/>
                </a:solidFill>
                <a:latin typeface="DM Sans"/>
                <a:ea typeface="DM Sans"/>
                <a:cs typeface="DM Sans"/>
                <a:sym typeface="DM Sans"/>
              </a:rPr>
              <a:t>https://modeling-languages.com/wp-content/uploads/2019/07/Architecture-EncoderDecoder_v2.png</a:t>
            </a:r>
            <a:endParaRPr/>
          </a:p>
        </p:txBody>
      </p:sp>
      <p:sp>
        <p:nvSpPr>
          <p:cNvPr id="285" name="Google Shape;285;p23"/>
          <p:cNvSpPr txBox="1"/>
          <p:nvPr/>
        </p:nvSpPr>
        <p:spPr>
          <a:xfrm>
            <a:off x="2238375" y="3926681"/>
            <a:ext cx="8810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1E293B"/>
                </a:solidFill>
                <a:latin typeface="DM Sans"/>
                <a:ea typeface="DM Sans"/>
                <a:cs typeface="DM Sans"/>
                <a:sym typeface="DM Sans"/>
              </a:rPr>
              <a:t>Source: </a:t>
            </a:r>
            <a:r>
              <a:rPr b="0" i="0" lang="en-US" sz="1200" u="none" cap="none" strike="noStrike">
                <a:solidFill>
                  <a:srgbClr val="4F46E5"/>
                </a:solidFill>
                <a:latin typeface="DM Sans"/>
                <a:ea typeface="DM Sans"/>
                <a:cs typeface="DM Sans"/>
                <a:sym typeface="DM Sans"/>
              </a:rPr>
              <a:t>modeling-languages.com</a:t>
            </a:r>
            <a:endParaRPr/>
          </a:p>
        </p:txBody>
      </p:sp>
      <p:pic>
        <p:nvPicPr>
          <p:cNvPr descr="image.png" id="286" name="Google Shape;286;p23"/>
          <p:cNvPicPr preferRelativeResize="0"/>
          <p:nvPr/>
        </p:nvPicPr>
        <p:blipFill rotWithShape="1">
          <a:blip r:embed="rId7">
            <a:alphaModFix/>
          </a:blip>
          <a:srcRect b="0" l="0" r="0" t="0"/>
          <a:stretch/>
        </p:blipFill>
        <p:spPr>
          <a:xfrm>
            <a:off x="1143000" y="4457700"/>
            <a:ext cx="857250" cy="476250"/>
          </a:xfrm>
          <a:prstGeom prst="rect">
            <a:avLst/>
          </a:prstGeom>
          <a:noFill/>
          <a:ln>
            <a:noFill/>
          </a:ln>
        </p:spPr>
      </p:pic>
      <p:sp>
        <p:nvSpPr>
          <p:cNvPr id="287" name="Google Shape;287;p23"/>
          <p:cNvSpPr txBox="1"/>
          <p:nvPr/>
        </p:nvSpPr>
        <p:spPr>
          <a:xfrm>
            <a:off x="2238375" y="4464843"/>
            <a:ext cx="88106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1E293B"/>
                </a:solidFill>
                <a:latin typeface="DM Sans"/>
                <a:ea typeface="DM Sans"/>
                <a:cs typeface="DM Sans"/>
                <a:sym typeface="DM Sans"/>
              </a:rPr>
              <a:t>https://bunny-wp-pullzone-lcnorhfy96.b-cdn.net/wp-content/uploads/llm_agents_diagram_outline-1.jpg</a:t>
            </a:r>
            <a:endParaRPr/>
          </a:p>
        </p:txBody>
      </p:sp>
      <p:sp>
        <p:nvSpPr>
          <p:cNvPr id="288" name="Google Shape;288;p23"/>
          <p:cNvSpPr txBox="1"/>
          <p:nvPr/>
        </p:nvSpPr>
        <p:spPr>
          <a:xfrm>
            <a:off x="2238375" y="4698206"/>
            <a:ext cx="8810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1E293B"/>
                </a:solidFill>
                <a:latin typeface="DM Sans"/>
                <a:ea typeface="DM Sans"/>
                <a:cs typeface="DM Sans"/>
                <a:sym typeface="DM Sans"/>
              </a:rPr>
              <a:t>Source: </a:t>
            </a:r>
            <a:r>
              <a:rPr b="0" i="0" lang="en-US" sz="1200" u="none" cap="none" strike="noStrike">
                <a:solidFill>
                  <a:srgbClr val="4F46E5"/>
                </a:solidFill>
                <a:latin typeface="DM Sans"/>
                <a:ea typeface="DM Sans"/>
                <a:cs typeface="DM Sans"/>
                <a:sym typeface="DM Sans"/>
              </a:rPr>
              <a:t>vectormine.com</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