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10C8E1-E450-4948-A378-35487361ACB2}">
  <a:tblStyle styleId="{1A10C8E1-E450-4948-A378-35487361ACB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11" Type="http://schemas.openxmlformats.org/officeDocument/2006/relationships/slide" Target="slides/slide5.xml"/><Relationship Id="rId22" Type="http://schemas.openxmlformats.org/officeDocument/2006/relationships/font" Target="fonts/Urbanist-boldItalic.fntdata"/><Relationship Id="rId10" Type="http://schemas.openxmlformats.org/officeDocument/2006/relationships/slide" Target="slides/slide4.xml"/><Relationship Id="rId21" Type="http://schemas.openxmlformats.org/officeDocument/2006/relationships/font" Target="fonts/Urbanis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Urbanist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Relationship Id="rId8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9" Type="http://schemas.openxmlformats.org/officeDocument/2006/relationships/image" Target="../media/image31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Relationship Id="rId8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6687" y="4679453"/>
            <a:ext cx="80962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6812" y="4679453"/>
            <a:ext cx="10858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3162" y="4679453"/>
            <a:ext cx="8191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62812" y="4679453"/>
            <a:ext cx="9525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95275" y="1807071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AI Sentiment Analysis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&amp; Smart Feedback System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3338512"/>
            <a:ext cx="11049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Integrasi Model LSTM &amp; Large Language Model (Gemini 2.0 Flash)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Projek Akhir Mata Kuliah Kecerdasan Mesin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37580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847105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LATAR BELAKANG PROJEK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3066305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E-Commerce Growth: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Ledakan ulasan produk di pasar digital Indonesia (Tokopedia, dll).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3723530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Customer Voice: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Ulasan adalah aset data krusial untuk memahami kepuasan konsumen.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4380755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Kebutuhan Otomasi: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Mustahil menganalisis ribuan ulasan harian secara manual tanpa bantuan AI.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6630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2353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8075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1468"/>
            <a:ext cx="352425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461468"/>
            <a:ext cx="352425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461468"/>
            <a:ext cx="352425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05025" y="2756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7400" y="2756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72625" y="2756743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PERMASALAHAN UTAMA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793432" y="3633043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Kecepatan Respon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66775" y="4099768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Penjual kesulitan membalas komplain atau apresiasi secara instan.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555807" y="3633043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Akurasi Sentimen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29150" y="4099768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Bahasa ulasan seringkali informal, memerlukan model Deep Learning yang handal.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318182" y="3633043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Kualitas Feedback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391525" y="4099768"/>
            <a:ext cx="2933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Template jawaban standar sering terasa kaku dan tidak personal.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62000" y="1932830"/>
            <a:ext cx="5000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SOLUSI INTEGRASI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1932830"/>
            <a:ext cx="5715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2894855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Kami membangun ekosistem cerdas yang menggabungkan kekuatan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LSTM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untuk klasifikasi sentimen akurat dan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Google Gemini AI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untuk generasi bahasa alami yang kontekstual.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449505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Sistem ini tidak hanya menebak emosi, tapi juga memberikan solusi nyata bagi penjual.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37580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847105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ARSITEKTUR SISTEM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952500" y="2994868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Frontend: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Streamlit Dashboard untuk interaksi user.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52500" y="3394918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Backend: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FastAPI mengelola request dan inferensi.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52500" y="3794968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Storage: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ChromaDB untuk vector storage dan CSV untuk history.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52500" y="4452193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AI Engine: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Alur prediksi LSTM diteruskan ke Generative AI.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9486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9491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9496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52193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80555"/>
            <a:ext cx="5286375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874591"/>
            <a:ext cx="528637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3884116"/>
            <a:ext cx="5267325" cy="467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MODEL SENTIMEN: LSTM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028700" y="3161555"/>
            <a:ext cx="44481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LSTM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028700" y="4304555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Long Short-Term Memory Network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334125" y="2360116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Mengapa LSTM?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334125" y="2769691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Ulasan produk bersifat sekuensial. LSTM mampu mengingat konteks kata-kata sebelumnya (long-term dependencies) yang gagal ditangkap model tradisional.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937" y="225802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4037" y="2296120"/>
            <a:ext cx="27813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SMART FEEDBACK: GEMINI AI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439340" y="530602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Gemini 2.0 Flash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334125" y="2603003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Generasi Feedback Otomatis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334125" y="3012578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Sistem mengirimkan Nama Produk + Ulasan + Label Sentimen ke Gemini API.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715125" y="3812678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Sentimen Positif: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Saran apresiasi &amp; loyalitas.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715125" y="4212728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Sentimen Negatif: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Root cause analysis &amp; solusi komplain.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715125" y="4869953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Robustness: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Implementasi Retry Mechanism untuk mengatasi limitasi API (429 Error).</a:t>
            </a:r>
            <a:endParaRPr/>
          </a:p>
        </p:txBody>
      </p:sp>
      <p:pic>
        <p:nvPicPr>
          <p:cNvPr descr="image.png" id="181" name="Google Shape;18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81267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21272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869953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/>
          <p:nvPr/>
        </p:nvSpPr>
        <p:spPr>
          <a:xfrm>
            <a:off x="571500" y="3142505"/>
            <a:ext cx="11049000" cy="2362200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20"/>
          <p:cNvGraphicFramePr/>
          <p:nvPr/>
        </p:nvGraphicFramePr>
        <p:xfrm>
          <a:off x="571500" y="31425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{1A10C8E1-E450-4948-A378-35487361ACB2}</a:tableStyleId>
              </a:tblPr>
              <a:tblGrid>
                <a:gridCol w="2596300"/>
                <a:gridCol w="8452700"/>
              </a:tblGrid>
              <a:tr h="47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Tahapan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Deskripsi Teknik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Cleaning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Lowercasing, Regex (Hapus karakter non-alphabet)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NLTK Tokenize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Pemecahan kalimat menjadi token kata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Stopwords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Menghapus kata-kata umum bahasa Indonesia (NLTK ID)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Sequencing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Tokenizer Keras &amp; Padding (maxlen=100)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1" name="Google Shape;191;p20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STRUKTUR DATA &amp; PREPROCESSING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264720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Dataset: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PRDECT-ID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(Ulasan E-Commerce Indonesia)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9068"/>
            <a:ext cx="35242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309068"/>
            <a:ext cx="35242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309068"/>
            <a:ext cx="35242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05025" y="26043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6043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58350" y="2604343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STREAMLIT DASHBOARD INTERFACE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793432" y="3480643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Halaman Predict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866775" y="3947368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Input interaktif ulasan produk, deteksi sentimen real-time, dan tampilan feedback Gemini.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4555807" y="3480643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Halaman Analytics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4629150" y="3947368"/>
            <a:ext cx="2933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Visualisasi data historis menggunakan Plotly (Bar Charts) untuk Top Positive/Negative products.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318182" y="3480643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 Persistence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8391525" y="3947368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Penyimpanan otomatis riwayat prediksi ke CSV dan integrasi ChromaDB.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295275" y="120387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Terima Kasih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571500" y="3807645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Pertanyaan?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571500" y="471058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Dibuat untuk Tugas Besar Kecerdasan Mesin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571500" y="520588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Teknik Informatika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24483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08374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9211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76886"/>
            <a:ext cx="12477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16165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9464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571500" y="167506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71500" y="245983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571500" y="344269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71500" y="422746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71500" y="501223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24503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71500" y="24503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71500" y="34331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571500" y="34331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571500" y="42179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71500" y="42179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71500" y="50027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71500" y="50027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71500" y="578747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71500" y="578747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1666875" y="181793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https://standard-insights.com/wp-content/uploads/2023/05/3-6.jpg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1666875" y="206365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standard-insights.com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1666875" y="260270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https://elements-resized.envatousercontent.com/elements-video-cover-images/files/cdea9048-a646-4867-bab5-bdae0581ece5/inline_image_preview.jpg?w=500&amp;cf_fit=cover&amp;q=85&amp;format=auto&amp;s=20d59574d3c50785c6f05a1f8174ee1e590821062ed98609b8d90e290d4659a1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1666875" y="304651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elements.envato.com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1666875" y="358556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https://miro.medium.com/v2/resize:fit:4096/1*GB6tXauVBaHVGDE4L_FkYg.png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1666875" y="38312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levelup.gitconnected.com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666875" y="43703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https://miro.medium.com/1*laH0_xXEkFE0lKJu54gkFQ.png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1666875" y="461605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blog.mlreview.com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1666875" y="515510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https://www.lorka.ai/_next/image?url=%2Fmedia%2Fgoogle_gemini_3_1_gemini_generated_with_bgc.webp&amp;w=3840&amp;q=75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666875" y="54008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www.lorka.ai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666875" y="593987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https://slidebazaar.com/wp-content/uploads/2020/07/Free-Thank-You-presentation-template.jpg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1666875" y="618559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slidebazaar.com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425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1666875" y="3736032"/>
            <a:ext cx="68770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https://cdn.dribbble.com/userupload/44699092/file/3c7680a2dbddfcf96add30879505414c.jpeg?resize=752x&amp;vertical=center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1666875" y="3981747"/>
            <a:ext cx="68770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dribbble.com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